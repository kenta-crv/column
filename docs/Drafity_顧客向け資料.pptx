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4.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lob1.png"/>
          <p:cNvPicPr>
            <a:picLocks noChangeAspect="1"/>
          </p:cNvPicPr>
          <p:nvPr/>
        </p:nvPicPr>
        <p:blipFill>
          <a:blip r:embed="rId2"/>
          <a:stretch>
            <a:fillRect/>
          </a:stretch>
        </p:blipFill>
        <p:spPr>
          <a:xfrm>
            <a:off x="7498079" y="-457200"/>
            <a:ext cx="5943600" cy="5943600"/>
          </a:xfrm>
          <a:prstGeom prst="rect">
            <a:avLst/>
          </a:prstGeom>
        </p:spPr>
      </p:pic>
      <p:pic>
        <p:nvPicPr>
          <p:cNvPr id="4" name="Picture 3" descr="blob2.png"/>
          <p:cNvPicPr>
            <a:picLocks noChangeAspect="1"/>
          </p:cNvPicPr>
          <p:nvPr/>
        </p:nvPicPr>
        <p:blipFill>
          <a:blip r:embed="rId3"/>
          <a:stretch>
            <a:fillRect/>
          </a:stretch>
        </p:blipFill>
        <p:spPr>
          <a:xfrm>
            <a:off x="9601200" y="3840480"/>
            <a:ext cx="3657600" cy="3657600"/>
          </a:xfrm>
          <a:prstGeom prst="rect">
            <a:avLst/>
          </a:prstGeom>
        </p:spPr>
      </p:pic>
      <p:sp>
        <p:nvSpPr>
          <p:cNvPr id="5" name="Rounded Rectangle 4"/>
          <p:cNvSpPr/>
          <p:nvPr/>
        </p:nvSpPr>
        <p:spPr>
          <a:xfrm>
            <a:off x="0" y="0"/>
            <a:ext cx="12191695" cy="777240"/>
          </a:xfrm>
          <a:prstGeom prst="roundRect">
            <a:avLst>
              <a:gd name="adj" fmla="val 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png"/>
          <p:cNvPicPr>
            <a:picLocks noChangeAspect="1"/>
          </p:cNvPicPr>
          <p:nvPr/>
        </p:nvPicPr>
        <p:blipFill>
          <a:blip r:embed="rId4"/>
          <a:stretch>
            <a:fillRect/>
          </a:stretch>
        </p:blipFill>
        <p:spPr>
          <a:xfrm>
            <a:off x="548640" y="182880"/>
            <a:ext cx="1065704" cy="411480"/>
          </a:xfrm>
          <a:prstGeom prst="rect">
            <a:avLst/>
          </a:prstGeom>
        </p:spPr>
      </p:pic>
      <p:sp>
        <p:nvSpPr>
          <p:cNvPr id="7" name="TextBox 6"/>
          <p:cNvSpPr txBox="1"/>
          <p:nvPr/>
        </p:nvSpPr>
        <p:spPr>
          <a:xfrm>
            <a:off x="1188720" y="256032"/>
            <a:ext cx="3657600" cy="365760"/>
          </a:xfrm>
          <a:prstGeom prst="rect">
            <a:avLst/>
          </a:prstGeom>
          <a:noFill/>
        </p:spPr>
        <p:txBody>
          <a:bodyPr wrap="square">
            <a:spAutoFit/>
          </a:bodyPr>
          <a:lstStyle/>
          <a:p>
            <a:pPr algn="l">
              <a:spcBef>
                <a:spcPts val="0"/>
              </a:spcBef>
              <a:spcAft>
                <a:spcPts val="400"/>
              </a:spcAft>
            </a:pPr>
            <a:r>
              <a:rPr sz="1600" b="1">
                <a:solidFill>
                  <a:srgbClr val="0F172A"/>
                </a:solidFill>
                <a:latin typeface="Arial"/>
                <a:ea typeface="Arial"/>
              </a:rPr>
              <a:t>Drafity</a:t>
            </a:r>
          </a:p>
        </p:txBody>
      </p:sp>
      <p:sp>
        <p:nvSpPr>
          <p:cNvPr id="8" name="TextBox 7"/>
          <p:cNvSpPr txBox="1"/>
          <p:nvPr/>
        </p:nvSpPr>
        <p:spPr>
          <a:xfrm>
            <a:off x="7772400" y="274320"/>
            <a:ext cx="3931920" cy="320040"/>
          </a:xfrm>
          <a:prstGeom prst="rect">
            <a:avLst/>
          </a:prstGeom>
          <a:noFill/>
        </p:spPr>
        <p:txBody>
          <a:bodyPr wrap="square">
            <a:spAutoFit/>
          </a:bodyPr>
          <a:lstStyle/>
          <a:p>
            <a:pPr algn="r">
              <a:spcBef>
                <a:spcPts val="0"/>
              </a:spcBef>
              <a:spcAft>
                <a:spcPts val="400"/>
              </a:spcAft>
            </a:pPr>
            <a:r>
              <a:rPr sz="1100" b="0">
                <a:solidFill>
                  <a:srgbClr val="64748B"/>
                </a:solidFill>
                <a:latin typeface="Hiragino Sans"/>
                <a:ea typeface="Hiragino Sans"/>
              </a:rPr>
              <a:t>AI記事生成・運用支援</a:t>
            </a:r>
          </a:p>
        </p:txBody>
      </p:sp>
      <p:sp>
        <p:nvSpPr>
          <p:cNvPr id="9" name="Rounded Rectangle 8"/>
          <p:cNvSpPr/>
          <p:nvPr/>
        </p:nvSpPr>
        <p:spPr>
          <a:xfrm>
            <a:off x="640080" y="1234440"/>
            <a:ext cx="6035040" cy="365760"/>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B82F6"/>
                </a:solidFill>
                <a:latin typeface="Hiragino Sans"/>
                <a:ea typeface="Hiragino Sans"/>
              </a:rPr>
              <a:t>2026年 最新AIで、記事作成をもっと速く、もっと高品質に。</a:t>
            </a:r>
          </a:p>
        </p:txBody>
      </p:sp>
      <p:sp>
        <p:nvSpPr>
          <p:cNvPr id="10" name="TextBox 9"/>
          <p:cNvSpPr txBox="1"/>
          <p:nvPr/>
        </p:nvSpPr>
        <p:spPr>
          <a:xfrm>
            <a:off x="640080" y="1828800"/>
            <a:ext cx="6217920" cy="1554480"/>
          </a:xfrm>
          <a:prstGeom prst="rect">
            <a:avLst/>
          </a:prstGeom>
          <a:noFill/>
        </p:spPr>
        <p:txBody>
          <a:bodyPr wrap="square">
            <a:spAutoFit/>
          </a:bodyPr>
          <a:lstStyle/>
          <a:p>
            <a:pPr algn="l">
              <a:spcBef>
                <a:spcPts val="0"/>
              </a:spcBef>
              <a:spcAft>
                <a:spcPts val="400"/>
              </a:spcAft>
            </a:pPr>
            <a:r>
              <a:rPr sz="3600" b="1">
                <a:solidFill>
                  <a:srgbClr val="0F172A"/>
                </a:solidFill>
                <a:latin typeface="Hiragino Sans"/>
                <a:ea typeface="Hiragino Sans"/>
              </a:rPr>
              <a:t>本格メディアを、</a:t>
            </a:r>
          </a:p>
          <a:p>
            <a:pPr algn="l">
              <a:spcBef>
                <a:spcPts val="0"/>
              </a:spcBef>
              <a:spcAft>
                <a:spcPts val="400"/>
              </a:spcAft>
            </a:pPr>
            <a:r>
              <a:rPr sz="3600" b="1">
                <a:solidFill>
                  <a:srgbClr val="4F46E5"/>
                </a:solidFill>
                <a:latin typeface="Hiragino Sans"/>
                <a:ea typeface="Hiragino Sans"/>
              </a:rPr>
              <a:t>AIで量産する時代へ。</a:t>
            </a:r>
          </a:p>
        </p:txBody>
      </p:sp>
      <p:pic>
        <p:nvPicPr>
          <p:cNvPr id="11" name="Picture 10" descr="grad_h.png"/>
          <p:cNvPicPr>
            <a:picLocks noChangeAspect="1"/>
          </p:cNvPicPr>
          <p:nvPr/>
        </p:nvPicPr>
        <p:blipFill>
          <a:blip r:embed="rId5"/>
          <a:stretch>
            <a:fillRect/>
          </a:stretch>
        </p:blipFill>
        <p:spPr>
          <a:xfrm>
            <a:off x="640080" y="3429000"/>
            <a:ext cx="2926080" cy="54864"/>
          </a:xfrm>
          <a:prstGeom prst="rect">
            <a:avLst/>
          </a:prstGeom>
        </p:spPr>
      </p:pic>
      <p:sp>
        <p:nvSpPr>
          <p:cNvPr id="12" name="TextBox 11"/>
          <p:cNvSpPr txBox="1"/>
          <p:nvPr/>
        </p:nvSpPr>
        <p:spPr>
          <a:xfrm>
            <a:off x="640080" y="3657600"/>
            <a:ext cx="6035040" cy="914400"/>
          </a:xfrm>
          <a:prstGeom prst="rect">
            <a:avLst/>
          </a:prstGeom>
          <a:noFill/>
        </p:spPr>
        <p:txBody>
          <a:bodyPr wrap="square">
            <a:spAutoFit/>
          </a:bodyPr>
          <a:lstStyle/>
          <a:p>
            <a:pPr algn="l">
              <a:spcBef>
                <a:spcPts val="0"/>
              </a:spcBef>
              <a:spcAft>
                <a:spcPts val="400"/>
              </a:spcAft>
            </a:pPr>
            <a:r>
              <a:rPr sz="1300" b="0">
                <a:solidFill>
                  <a:srgbClr val="64748B"/>
                </a:solidFill>
                <a:latin typeface="Hiragino Sans"/>
                <a:ea typeface="Hiragino Sans"/>
              </a:rPr>
              <a:t>最新のAIがGoogle志向を分析しSEOに強く、読者の心に響く高品質な記事を自動生成。あなたのメディアの成長を急速に加速させます。</a:t>
            </a:r>
          </a:p>
        </p:txBody>
      </p:sp>
      <p:sp>
        <p:nvSpPr>
          <p:cNvPr id="13" name="Rounded Rectangle 12"/>
          <p:cNvSpPr/>
          <p:nvPr/>
        </p:nvSpPr>
        <p:spPr>
          <a:xfrm>
            <a:off x="640080" y="4709160"/>
            <a:ext cx="2057400" cy="329184"/>
          </a:xfrm>
          <a:prstGeom prst="roundRect">
            <a:avLst>
              <a:gd name="adj" fmla="val 5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E293B"/>
                </a:solidFill>
                <a:latin typeface="Hiragino Sans"/>
                <a:ea typeface="Hiragino Sans"/>
              </a:rPr>
              <a:t>SEOに強い構成を自動作成</a:t>
            </a:r>
          </a:p>
        </p:txBody>
      </p:sp>
      <p:sp>
        <p:nvSpPr>
          <p:cNvPr id="14" name="Rounded Rectangle 13"/>
          <p:cNvSpPr/>
          <p:nvPr/>
        </p:nvSpPr>
        <p:spPr>
          <a:xfrm>
            <a:off x="2788920" y="4709160"/>
            <a:ext cx="2057400" cy="329184"/>
          </a:xfrm>
          <a:prstGeom prst="roundRect">
            <a:avLst>
              <a:gd name="adj" fmla="val 5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E293B"/>
                </a:solidFill>
                <a:latin typeface="Hiragino Sans"/>
                <a:ea typeface="Hiragino Sans"/>
              </a:rPr>
              <a:t>E-E-A-T対応の高精度記事</a:t>
            </a:r>
          </a:p>
        </p:txBody>
      </p:sp>
      <p:sp>
        <p:nvSpPr>
          <p:cNvPr id="15" name="Rounded Rectangle 14"/>
          <p:cNvSpPr/>
          <p:nvPr/>
        </p:nvSpPr>
        <p:spPr>
          <a:xfrm>
            <a:off x="4937760" y="4709160"/>
            <a:ext cx="2057400" cy="329184"/>
          </a:xfrm>
          <a:prstGeom prst="roundRect">
            <a:avLst>
              <a:gd name="adj" fmla="val 5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E293B"/>
                </a:solidFill>
                <a:latin typeface="Hiragino Sans"/>
                <a:ea typeface="Hiragino Sans"/>
              </a:rPr>
              <a:t>画像AI自動生成</a:t>
            </a:r>
          </a:p>
        </p:txBody>
      </p:sp>
      <p:pic>
        <p:nvPicPr>
          <p:cNvPr id="16" name="Picture 15" descr="btn_blue.png"/>
          <p:cNvPicPr>
            <a:picLocks noChangeAspect="1"/>
          </p:cNvPicPr>
          <p:nvPr/>
        </p:nvPicPr>
        <p:blipFill>
          <a:blip r:embed="rId6"/>
          <a:stretch>
            <a:fillRect/>
          </a:stretch>
        </p:blipFill>
        <p:spPr>
          <a:xfrm>
            <a:off x="502920" y="5212080"/>
            <a:ext cx="2880360" cy="658368"/>
          </a:xfrm>
          <a:prstGeom prst="rect">
            <a:avLst/>
          </a:prstGeom>
        </p:spPr>
      </p:pic>
      <p:sp>
        <p:nvSpPr>
          <p:cNvPr id="17" name="TextBox 16"/>
          <p:cNvSpPr txBox="1"/>
          <p:nvPr/>
        </p:nvSpPr>
        <p:spPr>
          <a:xfrm>
            <a:off x="502920" y="5285232"/>
            <a:ext cx="2880360" cy="548640"/>
          </a:xfrm>
          <a:prstGeom prst="rect">
            <a:avLst/>
          </a:prstGeom>
          <a:noFill/>
        </p:spPr>
        <p:txBody>
          <a:bodyPr wrap="none">
            <a:spAutoFit/>
          </a:bodyPr>
          <a:lstStyle/>
          <a:p>
            <a:pPr algn="ctr"/>
            <a:r>
              <a:rPr sz="1300" b="1">
                <a:solidFill>
                  <a:srgbClr val="FFFFFF"/>
                </a:solidFill>
                <a:latin typeface="Hiragino Sans"/>
                <a:ea typeface="Hiragino Sans"/>
              </a:rPr>
              <a:t>トライアルを開始する</a:t>
            </a:r>
          </a:p>
        </p:txBody>
      </p:sp>
      <p:pic>
        <p:nvPicPr>
          <p:cNvPr id="18" name="Picture 17" descr="btn_purple.png"/>
          <p:cNvPicPr>
            <a:picLocks noChangeAspect="1"/>
          </p:cNvPicPr>
          <p:nvPr/>
        </p:nvPicPr>
        <p:blipFill>
          <a:blip r:embed="rId7"/>
          <a:stretch>
            <a:fillRect/>
          </a:stretch>
        </p:blipFill>
        <p:spPr>
          <a:xfrm>
            <a:off x="3383280" y="5212080"/>
            <a:ext cx="2514600" cy="658368"/>
          </a:xfrm>
          <a:prstGeom prst="rect">
            <a:avLst/>
          </a:prstGeom>
        </p:spPr>
      </p:pic>
      <p:sp>
        <p:nvSpPr>
          <p:cNvPr id="19" name="TextBox 18"/>
          <p:cNvSpPr txBox="1"/>
          <p:nvPr/>
        </p:nvSpPr>
        <p:spPr>
          <a:xfrm>
            <a:off x="3383280" y="5285232"/>
            <a:ext cx="2514600" cy="548640"/>
          </a:xfrm>
          <a:prstGeom prst="rect">
            <a:avLst/>
          </a:prstGeom>
          <a:noFill/>
        </p:spPr>
        <p:txBody>
          <a:bodyPr wrap="none">
            <a:spAutoFit/>
          </a:bodyPr>
          <a:lstStyle/>
          <a:p>
            <a:pPr algn="ctr"/>
            <a:r>
              <a:rPr sz="1300" b="1">
                <a:solidFill>
                  <a:srgbClr val="FFFFFF"/>
                </a:solidFill>
                <a:latin typeface="Hiragino Sans"/>
                <a:ea typeface="Hiragino Sans"/>
              </a:rPr>
              <a:t>AI商談を開始</a:t>
            </a:r>
          </a:p>
        </p:txBody>
      </p:sp>
      <p:sp>
        <p:nvSpPr>
          <p:cNvPr id="20" name="Rounded Rectangle 19"/>
          <p:cNvSpPr/>
          <p:nvPr/>
        </p:nvSpPr>
        <p:spPr>
          <a:xfrm>
            <a:off x="6720840" y="1097280"/>
            <a:ext cx="5029200" cy="484632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hero-bg.png"/>
          <p:cNvPicPr>
            <a:picLocks noChangeAspect="1"/>
          </p:cNvPicPr>
          <p:nvPr/>
        </p:nvPicPr>
        <p:blipFill>
          <a:blip r:embed="rId8"/>
          <a:stretch>
            <a:fillRect/>
          </a:stretch>
        </p:blipFill>
        <p:spPr>
          <a:xfrm>
            <a:off x="6903720" y="1325880"/>
            <a:ext cx="4663440" cy="4016655"/>
          </a:xfrm>
          <a:prstGeom prst="rect">
            <a:avLst/>
          </a:prstGeom>
        </p:spPr>
      </p:pic>
      <p:pic>
        <p:nvPicPr>
          <p:cNvPr id="22" name="Picture 21" descr="grad_bar.png"/>
          <p:cNvPicPr>
            <a:picLocks noChangeAspect="1"/>
          </p:cNvPicPr>
          <p:nvPr/>
        </p:nvPicPr>
        <p:blipFill>
          <a:blip r:embed="rId9"/>
          <a:stretch>
            <a:fillRect/>
          </a:stretch>
        </p:blipFill>
        <p:spPr>
          <a:xfrm>
            <a:off x="0" y="0"/>
            <a:ext cx="12191695" cy="41148"/>
          </a:xfrm>
          <a:prstGeom prst="rect">
            <a:avLst/>
          </a:prstGeom>
        </p:spPr>
      </p:pic>
      <p:sp>
        <p:nvSpPr>
          <p:cNvPr id="23" name="TextBox 22"/>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24" name="TextBox 23"/>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What's Drafity?</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次世代のAI記事生成・運用支援ツール</a:t>
            </a:r>
          </a:p>
        </p:txBody>
      </p:sp>
      <p:sp>
        <p:nvSpPr>
          <p:cNvPr id="5" name="TextBox 4"/>
          <p:cNvSpPr txBox="1"/>
          <p:nvPr/>
        </p:nvSpPr>
        <p:spPr>
          <a:xfrm>
            <a:off x="594360" y="1216152"/>
            <a:ext cx="10972800" cy="36576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SEOに強い構成案の作成から、本文の自動生成、画像生成、リライト、効果測定までを一つのプラットフォームで完結。</a:t>
            </a:r>
          </a:p>
        </p:txBody>
      </p:sp>
      <p:sp>
        <p:nvSpPr>
          <p:cNvPr id="6" name="Rounded Rectangle 5"/>
          <p:cNvSpPr/>
          <p:nvPr/>
        </p:nvSpPr>
        <p:spPr>
          <a:xfrm>
            <a:off x="502920" y="1691640"/>
            <a:ext cx="6035040" cy="429768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80"/>
            <a:ext cx="640080" cy="640080"/>
          </a:xfrm>
          <a:prstGeom prst="roundRect">
            <a:avLst>
              <a:gd name="adj" fmla="val 2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3B82F6"/>
                </a:solidFill>
                <a:latin typeface="Arial"/>
                <a:ea typeface="Arial"/>
              </a:rPr>
              <a:t>01</a:t>
            </a:r>
          </a:p>
        </p:txBody>
      </p:sp>
      <p:sp>
        <p:nvSpPr>
          <p:cNvPr id="8" name="TextBox 7"/>
          <p:cNvSpPr txBox="1"/>
          <p:nvPr/>
        </p:nvSpPr>
        <p:spPr>
          <a:xfrm>
            <a:off x="1737360" y="2057400"/>
            <a:ext cx="4389120" cy="822960"/>
          </a:xfrm>
          <a:prstGeom prst="rect">
            <a:avLst/>
          </a:prstGeom>
          <a:noFill/>
        </p:spPr>
        <p:txBody>
          <a:bodyPr wrap="square">
            <a:spAutoFit/>
          </a:bodyPr>
          <a:lstStyle/>
          <a:p>
            <a:pPr algn="l">
              <a:spcBef>
                <a:spcPts val="0"/>
              </a:spcBef>
              <a:spcAft>
                <a:spcPts val="400"/>
              </a:spcAft>
            </a:pPr>
            <a:r>
              <a:rPr sz="1800" b="1">
                <a:solidFill>
                  <a:srgbClr val="0F172A"/>
                </a:solidFill>
                <a:latin typeface="Hiragino Sans"/>
                <a:ea typeface="Hiragino Sans"/>
              </a:rPr>
              <a:t>圧倒的に速い</a:t>
            </a:r>
          </a:p>
          <a:p>
            <a:pPr algn="l">
              <a:spcBef>
                <a:spcPts val="0"/>
              </a:spcBef>
              <a:spcAft>
                <a:spcPts val="400"/>
              </a:spcAft>
            </a:pPr>
            <a:r>
              <a:rPr sz="1300" b="0">
                <a:solidFill>
                  <a:srgbClr val="64748B"/>
                </a:solidFill>
                <a:latin typeface="Hiragino Sans"/>
                <a:ea typeface="Hiragino Sans"/>
              </a:rPr>
              <a:t>最短数分で記事完成</a:t>
            </a:r>
          </a:p>
        </p:txBody>
      </p:sp>
      <p:sp>
        <p:nvSpPr>
          <p:cNvPr id="9" name="Rounded Rectangle 8"/>
          <p:cNvSpPr/>
          <p:nvPr/>
        </p:nvSpPr>
        <p:spPr>
          <a:xfrm>
            <a:off x="868680" y="3200400"/>
            <a:ext cx="640080" cy="640080"/>
          </a:xfrm>
          <a:prstGeom prst="roundRect">
            <a:avLst>
              <a:gd name="adj" fmla="val 2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3B82F6"/>
                </a:solidFill>
                <a:latin typeface="Arial"/>
                <a:ea typeface="Arial"/>
              </a:rPr>
              <a:t>02</a:t>
            </a:r>
          </a:p>
        </p:txBody>
      </p:sp>
      <p:sp>
        <p:nvSpPr>
          <p:cNvPr id="10" name="TextBox 9"/>
          <p:cNvSpPr txBox="1"/>
          <p:nvPr/>
        </p:nvSpPr>
        <p:spPr>
          <a:xfrm>
            <a:off x="1737360" y="3246120"/>
            <a:ext cx="4389120" cy="822960"/>
          </a:xfrm>
          <a:prstGeom prst="rect">
            <a:avLst/>
          </a:prstGeom>
          <a:noFill/>
        </p:spPr>
        <p:txBody>
          <a:bodyPr wrap="square">
            <a:spAutoFit/>
          </a:bodyPr>
          <a:lstStyle/>
          <a:p>
            <a:pPr algn="l">
              <a:spcBef>
                <a:spcPts val="0"/>
              </a:spcBef>
              <a:spcAft>
                <a:spcPts val="400"/>
              </a:spcAft>
            </a:pPr>
            <a:r>
              <a:rPr sz="1800" b="1">
                <a:solidFill>
                  <a:srgbClr val="0F172A"/>
                </a:solidFill>
                <a:latin typeface="Hiragino Sans"/>
                <a:ea typeface="Hiragino Sans"/>
              </a:rPr>
              <a:t>SEOに強い</a:t>
            </a:r>
          </a:p>
          <a:p>
            <a:pPr algn="l">
              <a:spcBef>
                <a:spcPts val="0"/>
              </a:spcBef>
              <a:spcAft>
                <a:spcPts val="400"/>
              </a:spcAft>
            </a:pPr>
            <a:r>
              <a:rPr sz="1300" b="0">
                <a:solidFill>
                  <a:srgbClr val="64748B"/>
                </a:solidFill>
                <a:latin typeface="Hiragino Sans"/>
                <a:ea typeface="Hiragino Sans"/>
              </a:rPr>
              <a:t>Googleに準ずる設計</a:t>
            </a:r>
          </a:p>
        </p:txBody>
      </p:sp>
      <p:sp>
        <p:nvSpPr>
          <p:cNvPr id="11" name="Rounded Rectangle 10"/>
          <p:cNvSpPr/>
          <p:nvPr/>
        </p:nvSpPr>
        <p:spPr>
          <a:xfrm>
            <a:off x="868680" y="4389120"/>
            <a:ext cx="640080" cy="640080"/>
          </a:xfrm>
          <a:prstGeom prst="roundRect">
            <a:avLst>
              <a:gd name="adj" fmla="val 2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3B82F6"/>
                </a:solidFill>
                <a:latin typeface="Arial"/>
                <a:ea typeface="Arial"/>
              </a:rPr>
              <a:t>03</a:t>
            </a:r>
          </a:p>
        </p:txBody>
      </p:sp>
      <p:sp>
        <p:nvSpPr>
          <p:cNvPr id="12" name="TextBox 11"/>
          <p:cNvSpPr txBox="1"/>
          <p:nvPr/>
        </p:nvSpPr>
        <p:spPr>
          <a:xfrm>
            <a:off x="1737360" y="4434840"/>
            <a:ext cx="4389120" cy="822960"/>
          </a:xfrm>
          <a:prstGeom prst="rect">
            <a:avLst/>
          </a:prstGeom>
          <a:noFill/>
        </p:spPr>
        <p:txBody>
          <a:bodyPr wrap="square">
            <a:spAutoFit/>
          </a:bodyPr>
          <a:lstStyle/>
          <a:p>
            <a:pPr algn="l">
              <a:spcBef>
                <a:spcPts val="0"/>
              </a:spcBef>
              <a:spcAft>
                <a:spcPts val="400"/>
              </a:spcAft>
            </a:pPr>
            <a:r>
              <a:rPr sz="1800" b="1">
                <a:solidFill>
                  <a:srgbClr val="0F172A"/>
                </a:solidFill>
                <a:latin typeface="Hiragino Sans"/>
                <a:ea typeface="Hiragino Sans"/>
              </a:rPr>
              <a:t>資産コンテンツ化</a:t>
            </a:r>
          </a:p>
          <a:p>
            <a:pPr algn="l">
              <a:spcBef>
                <a:spcPts val="0"/>
              </a:spcBef>
              <a:spcAft>
                <a:spcPts val="400"/>
              </a:spcAft>
            </a:pPr>
            <a:r>
              <a:rPr sz="1300" b="0">
                <a:solidFill>
                  <a:srgbClr val="64748B"/>
                </a:solidFill>
                <a:latin typeface="Hiragino Sans"/>
                <a:ea typeface="Hiragino Sans"/>
              </a:rPr>
              <a:t>企業のWeb資産へ</a:t>
            </a:r>
          </a:p>
        </p:txBody>
      </p:sp>
      <p:sp>
        <p:nvSpPr>
          <p:cNvPr id="13" name="Rounded Rectangle 12"/>
          <p:cNvSpPr/>
          <p:nvPr/>
        </p:nvSpPr>
        <p:spPr>
          <a:xfrm>
            <a:off x="6812280" y="1691640"/>
            <a:ext cx="4892040" cy="429768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hats.png"/>
          <p:cNvPicPr>
            <a:picLocks noChangeAspect="1"/>
          </p:cNvPicPr>
          <p:nvPr/>
        </p:nvPicPr>
        <p:blipFill>
          <a:blip r:embed="rId2"/>
          <a:stretch>
            <a:fillRect/>
          </a:stretch>
        </p:blipFill>
        <p:spPr>
          <a:xfrm>
            <a:off x="7040880" y="2103120"/>
            <a:ext cx="4434840" cy="2284615"/>
          </a:xfrm>
          <a:prstGeom prst="rect">
            <a:avLst/>
          </a:prstGeom>
        </p:spPr>
      </p:pic>
      <p:pic>
        <p:nvPicPr>
          <p:cNvPr id="15" name="Picture 14" descr="grad_bar.png"/>
          <p:cNvPicPr>
            <a:picLocks noChangeAspect="1"/>
          </p:cNvPicPr>
          <p:nvPr/>
        </p:nvPicPr>
        <p:blipFill>
          <a:blip r:embed="rId3"/>
          <a:stretch>
            <a:fillRect/>
          </a:stretch>
        </p:blipFill>
        <p:spPr>
          <a:xfrm>
            <a:off x="0" y="0"/>
            <a:ext cx="12191695" cy="41148"/>
          </a:xfrm>
          <a:prstGeom prst="rect">
            <a:avLst/>
          </a:prstGeom>
        </p:spPr>
      </p:pic>
      <p:sp>
        <p:nvSpPr>
          <p:cNvPr id="16" name="TextBox 15"/>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17" name="TextBox 16"/>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こんなお悩みありませんか？</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メディア運営で、こんな壁にぶつかっていませんか？</a:t>
            </a:r>
          </a:p>
        </p:txBody>
      </p:sp>
      <p:sp>
        <p:nvSpPr>
          <p:cNvPr id="5" name="Rounded Rectangle 4"/>
          <p:cNvSpPr/>
          <p:nvPr/>
        </p:nvSpPr>
        <p:spPr>
          <a:xfrm>
            <a:off x="457200" y="1508760"/>
            <a:ext cx="3657600" cy="21488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ad_v.png"/>
          <p:cNvPicPr>
            <a:picLocks noChangeAspect="1"/>
          </p:cNvPicPr>
          <p:nvPr/>
        </p:nvPicPr>
        <p:blipFill>
          <a:blip r:embed="rId2"/>
          <a:stretch>
            <a:fillRect/>
          </a:stretch>
        </p:blipFill>
        <p:spPr>
          <a:xfrm>
            <a:off x="457200" y="1581912"/>
            <a:ext cx="54864" cy="2002536"/>
          </a:xfrm>
          <a:prstGeom prst="rect">
            <a:avLst/>
          </a:prstGeom>
        </p:spPr>
      </p:pic>
      <p:sp>
        <p:nvSpPr>
          <p:cNvPr id="7" name="Rounded Rectangle 6"/>
          <p:cNvSpPr/>
          <p:nvPr/>
        </p:nvSpPr>
        <p:spPr>
          <a:xfrm>
            <a:off x="685800" y="1737360"/>
            <a:ext cx="640080" cy="292608"/>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01</a:t>
            </a:r>
          </a:p>
        </p:txBody>
      </p:sp>
      <p:sp>
        <p:nvSpPr>
          <p:cNvPr id="8" name="TextBox 7"/>
          <p:cNvSpPr txBox="1"/>
          <p:nvPr/>
        </p:nvSpPr>
        <p:spPr>
          <a:xfrm>
            <a:off x="685800" y="2194560"/>
            <a:ext cx="3200400" cy="128016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記事制作に時間がかかり、本来の業務に集中できない</a:t>
            </a:r>
          </a:p>
          <a:p>
            <a:pPr algn="l">
              <a:spcBef>
                <a:spcPts val="0"/>
              </a:spcBef>
              <a:spcAft>
                <a:spcPts val="400"/>
              </a:spcAft>
            </a:pPr>
            <a:r>
              <a:rPr sz="1100" b="0">
                <a:solidFill>
                  <a:srgbClr val="64748B"/>
                </a:solidFill>
                <a:latin typeface="Hiragino Sans"/>
                <a:ea typeface="Hiragino Sans"/>
              </a:rPr>
              <a:t>企画・構成・執筆・編集などの工数が大きく、日々の運営業務を圧迫している。</a:t>
            </a:r>
          </a:p>
        </p:txBody>
      </p:sp>
      <p:sp>
        <p:nvSpPr>
          <p:cNvPr id="9" name="Rounded Rectangle 8"/>
          <p:cNvSpPr/>
          <p:nvPr/>
        </p:nvSpPr>
        <p:spPr>
          <a:xfrm>
            <a:off x="4297680" y="1508760"/>
            <a:ext cx="3657600" cy="21488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rad_v.png"/>
          <p:cNvPicPr>
            <a:picLocks noChangeAspect="1"/>
          </p:cNvPicPr>
          <p:nvPr/>
        </p:nvPicPr>
        <p:blipFill>
          <a:blip r:embed="rId2"/>
          <a:stretch>
            <a:fillRect/>
          </a:stretch>
        </p:blipFill>
        <p:spPr>
          <a:xfrm>
            <a:off x="4297680" y="1581912"/>
            <a:ext cx="54864" cy="2002536"/>
          </a:xfrm>
          <a:prstGeom prst="rect">
            <a:avLst/>
          </a:prstGeom>
        </p:spPr>
      </p:pic>
      <p:sp>
        <p:nvSpPr>
          <p:cNvPr id="11" name="Rounded Rectangle 10"/>
          <p:cNvSpPr/>
          <p:nvPr/>
        </p:nvSpPr>
        <p:spPr>
          <a:xfrm>
            <a:off x="4526280" y="1737360"/>
            <a:ext cx="640080" cy="292608"/>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02</a:t>
            </a:r>
          </a:p>
        </p:txBody>
      </p:sp>
      <p:sp>
        <p:nvSpPr>
          <p:cNvPr id="12" name="TextBox 11"/>
          <p:cNvSpPr txBox="1"/>
          <p:nvPr/>
        </p:nvSpPr>
        <p:spPr>
          <a:xfrm>
            <a:off x="4526280" y="2194560"/>
            <a:ext cx="3200400" cy="128016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SEOを意識した記事がうまく書けない</a:t>
            </a:r>
          </a:p>
          <a:p>
            <a:pPr algn="l">
              <a:spcBef>
                <a:spcPts val="0"/>
              </a:spcBef>
              <a:spcAft>
                <a:spcPts val="400"/>
              </a:spcAft>
            </a:pPr>
            <a:r>
              <a:rPr sz="1100" b="0">
                <a:solidFill>
                  <a:srgbClr val="64748B"/>
                </a:solidFill>
                <a:latin typeface="Hiragino Sans"/>
                <a:ea typeface="Hiragino Sans"/>
              </a:rPr>
              <a:t>検索上位を狙いたいが、キーワード設計や構成づくりが難しく、成果につながらない。</a:t>
            </a:r>
          </a:p>
        </p:txBody>
      </p:sp>
      <p:sp>
        <p:nvSpPr>
          <p:cNvPr id="13" name="Rounded Rectangle 12"/>
          <p:cNvSpPr/>
          <p:nvPr/>
        </p:nvSpPr>
        <p:spPr>
          <a:xfrm>
            <a:off x="8138160" y="1508760"/>
            <a:ext cx="3657600" cy="21488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rad_v.png"/>
          <p:cNvPicPr>
            <a:picLocks noChangeAspect="1"/>
          </p:cNvPicPr>
          <p:nvPr/>
        </p:nvPicPr>
        <p:blipFill>
          <a:blip r:embed="rId2"/>
          <a:stretch>
            <a:fillRect/>
          </a:stretch>
        </p:blipFill>
        <p:spPr>
          <a:xfrm>
            <a:off x="8138160" y="1581912"/>
            <a:ext cx="54864" cy="2002536"/>
          </a:xfrm>
          <a:prstGeom prst="rect">
            <a:avLst/>
          </a:prstGeom>
        </p:spPr>
      </p:pic>
      <p:sp>
        <p:nvSpPr>
          <p:cNvPr id="15" name="Rounded Rectangle 14"/>
          <p:cNvSpPr/>
          <p:nvPr/>
        </p:nvSpPr>
        <p:spPr>
          <a:xfrm>
            <a:off x="8366760" y="1737360"/>
            <a:ext cx="640080" cy="292608"/>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03</a:t>
            </a:r>
          </a:p>
        </p:txBody>
      </p:sp>
      <p:sp>
        <p:nvSpPr>
          <p:cNvPr id="16" name="TextBox 15"/>
          <p:cNvSpPr txBox="1"/>
          <p:nvPr/>
        </p:nvSpPr>
        <p:spPr>
          <a:xfrm>
            <a:off x="8366760" y="2194560"/>
            <a:ext cx="3200400" cy="128016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記事の品質にばらつきがあり、読者の満足度が上がらない</a:t>
            </a:r>
          </a:p>
          <a:p>
            <a:pPr algn="l">
              <a:spcBef>
                <a:spcPts val="0"/>
              </a:spcBef>
              <a:spcAft>
                <a:spcPts val="400"/>
              </a:spcAft>
            </a:pPr>
            <a:r>
              <a:rPr sz="1100" b="0">
                <a:solidFill>
                  <a:srgbClr val="64748B"/>
                </a:solidFill>
                <a:latin typeface="Hiragino Sans"/>
                <a:ea typeface="Hiragino Sans"/>
              </a:rPr>
              <a:t>ライターによってクオリティに差が出てしまい、メディア全体の信頼性に影響してしまう。</a:t>
            </a:r>
          </a:p>
        </p:txBody>
      </p:sp>
      <p:sp>
        <p:nvSpPr>
          <p:cNvPr id="17" name="Rounded Rectangle 16"/>
          <p:cNvSpPr/>
          <p:nvPr/>
        </p:nvSpPr>
        <p:spPr>
          <a:xfrm>
            <a:off x="457200" y="3840479"/>
            <a:ext cx="3657600" cy="21488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d_v.png"/>
          <p:cNvPicPr>
            <a:picLocks noChangeAspect="1"/>
          </p:cNvPicPr>
          <p:nvPr/>
        </p:nvPicPr>
        <p:blipFill>
          <a:blip r:embed="rId2"/>
          <a:stretch>
            <a:fillRect/>
          </a:stretch>
        </p:blipFill>
        <p:spPr>
          <a:xfrm>
            <a:off x="457200" y="3913631"/>
            <a:ext cx="54864" cy="2002536"/>
          </a:xfrm>
          <a:prstGeom prst="rect">
            <a:avLst/>
          </a:prstGeom>
        </p:spPr>
      </p:pic>
      <p:sp>
        <p:nvSpPr>
          <p:cNvPr id="19" name="Rounded Rectangle 18"/>
          <p:cNvSpPr/>
          <p:nvPr/>
        </p:nvSpPr>
        <p:spPr>
          <a:xfrm>
            <a:off x="685800" y="4069079"/>
            <a:ext cx="640080" cy="292608"/>
          </a:xfrm>
          <a:prstGeom prst="roundRect">
            <a:avLst>
              <a:gd name="adj" fmla="val 50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B5CF6"/>
                </a:solidFill>
                <a:latin typeface="Hiragino Sans"/>
                <a:ea typeface="Hiragino Sans"/>
              </a:rPr>
              <a:t>04</a:t>
            </a:r>
          </a:p>
        </p:txBody>
      </p:sp>
      <p:sp>
        <p:nvSpPr>
          <p:cNvPr id="20" name="TextBox 19"/>
          <p:cNvSpPr txBox="1"/>
          <p:nvPr/>
        </p:nvSpPr>
        <p:spPr>
          <a:xfrm>
            <a:off x="685800" y="4526279"/>
            <a:ext cx="3200400" cy="128016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アクセスや成果が伸び悩み、改善の打ち手が見えない</a:t>
            </a:r>
          </a:p>
          <a:p>
            <a:pPr algn="l">
              <a:spcBef>
                <a:spcPts val="0"/>
              </a:spcBef>
              <a:spcAft>
                <a:spcPts val="400"/>
              </a:spcAft>
            </a:pPr>
            <a:r>
              <a:rPr sz="1100" b="0">
                <a:solidFill>
                  <a:srgbClr val="64748B"/>
                </a:solidFill>
                <a:latin typeface="Hiragino Sans"/>
                <a:ea typeface="Hiragino Sans"/>
              </a:rPr>
              <a:t>データ分析や改善施策に時間が取れず、PDCAが回せていない。</a:t>
            </a:r>
          </a:p>
        </p:txBody>
      </p:sp>
      <p:sp>
        <p:nvSpPr>
          <p:cNvPr id="21" name="Rounded Rectangle 20"/>
          <p:cNvSpPr/>
          <p:nvPr/>
        </p:nvSpPr>
        <p:spPr>
          <a:xfrm>
            <a:off x="4297680" y="3840479"/>
            <a:ext cx="3657600" cy="21488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grad_v.png"/>
          <p:cNvPicPr>
            <a:picLocks noChangeAspect="1"/>
          </p:cNvPicPr>
          <p:nvPr/>
        </p:nvPicPr>
        <p:blipFill>
          <a:blip r:embed="rId2"/>
          <a:stretch>
            <a:fillRect/>
          </a:stretch>
        </p:blipFill>
        <p:spPr>
          <a:xfrm>
            <a:off x="4297680" y="3913631"/>
            <a:ext cx="54864" cy="2002536"/>
          </a:xfrm>
          <a:prstGeom prst="rect">
            <a:avLst/>
          </a:prstGeom>
        </p:spPr>
      </p:pic>
      <p:sp>
        <p:nvSpPr>
          <p:cNvPr id="23" name="Rounded Rectangle 22"/>
          <p:cNvSpPr/>
          <p:nvPr/>
        </p:nvSpPr>
        <p:spPr>
          <a:xfrm>
            <a:off x="4526280" y="4069079"/>
            <a:ext cx="640080" cy="292608"/>
          </a:xfrm>
          <a:prstGeom prst="roundRect">
            <a:avLst>
              <a:gd name="adj" fmla="val 50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B5CF6"/>
                </a:solidFill>
                <a:latin typeface="Hiragino Sans"/>
                <a:ea typeface="Hiragino Sans"/>
              </a:rPr>
              <a:t>05</a:t>
            </a:r>
          </a:p>
        </p:txBody>
      </p:sp>
      <p:sp>
        <p:nvSpPr>
          <p:cNvPr id="24" name="TextBox 23"/>
          <p:cNvSpPr txBox="1"/>
          <p:nvPr/>
        </p:nvSpPr>
        <p:spPr>
          <a:xfrm>
            <a:off x="4526280" y="4526279"/>
            <a:ext cx="3200400" cy="128016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外注コストがかさみ、運営コストが増大している</a:t>
            </a:r>
          </a:p>
          <a:p>
            <a:pPr algn="l">
              <a:spcBef>
                <a:spcPts val="0"/>
              </a:spcBef>
              <a:spcAft>
                <a:spcPts val="400"/>
              </a:spcAft>
            </a:pPr>
            <a:r>
              <a:rPr sz="1100" b="0">
                <a:solidFill>
                  <a:srgbClr val="64748B"/>
                </a:solidFill>
                <a:latin typeface="Hiragino Sans"/>
                <a:ea typeface="Hiragino Sans"/>
              </a:rPr>
              <a:t>ライターや編集者への依頼コストが積み重なり、利益を圧迫している。</a:t>
            </a:r>
          </a:p>
        </p:txBody>
      </p:sp>
      <p:sp>
        <p:nvSpPr>
          <p:cNvPr id="25" name="Rounded Rectangle 24"/>
          <p:cNvSpPr/>
          <p:nvPr/>
        </p:nvSpPr>
        <p:spPr>
          <a:xfrm>
            <a:off x="8138160" y="3840479"/>
            <a:ext cx="3657600" cy="21488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grad_v.png"/>
          <p:cNvPicPr>
            <a:picLocks noChangeAspect="1"/>
          </p:cNvPicPr>
          <p:nvPr/>
        </p:nvPicPr>
        <p:blipFill>
          <a:blip r:embed="rId2"/>
          <a:stretch>
            <a:fillRect/>
          </a:stretch>
        </p:blipFill>
        <p:spPr>
          <a:xfrm>
            <a:off x="8138160" y="3913631"/>
            <a:ext cx="54864" cy="2002536"/>
          </a:xfrm>
          <a:prstGeom prst="rect">
            <a:avLst/>
          </a:prstGeom>
        </p:spPr>
      </p:pic>
      <p:sp>
        <p:nvSpPr>
          <p:cNvPr id="27" name="Rounded Rectangle 26"/>
          <p:cNvSpPr/>
          <p:nvPr/>
        </p:nvSpPr>
        <p:spPr>
          <a:xfrm>
            <a:off x="8366760" y="4069079"/>
            <a:ext cx="640080" cy="292608"/>
          </a:xfrm>
          <a:prstGeom prst="roundRect">
            <a:avLst>
              <a:gd name="adj" fmla="val 50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B5CF6"/>
                </a:solidFill>
                <a:latin typeface="Hiragino Sans"/>
                <a:ea typeface="Hiragino Sans"/>
              </a:rPr>
              <a:t>06</a:t>
            </a:r>
          </a:p>
        </p:txBody>
      </p:sp>
      <p:sp>
        <p:nvSpPr>
          <p:cNvPr id="28" name="TextBox 27"/>
          <p:cNvSpPr txBox="1"/>
          <p:nvPr/>
        </p:nvSpPr>
        <p:spPr>
          <a:xfrm>
            <a:off x="8366760" y="4526279"/>
            <a:ext cx="3200400" cy="128016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GoogleのSEO構成を正しく把握できない</a:t>
            </a:r>
          </a:p>
          <a:p>
            <a:pPr algn="l">
              <a:spcBef>
                <a:spcPts val="0"/>
              </a:spcBef>
              <a:spcAft>
                <a:spcPts val="400"/>
              </a:spcAft>
            </a:pPr>
            <a:r>
              <a:rPr sz="1100" b="0">
                <a:solidFill>
                  <a:srgbClr val="64748B"/>
                </a:solidFill>
                <a:latin typeface="Hiragino Sans"/>
                <a:ea typeface="Hiragino Sans"/>
              </a:rPr>
              <a:t>情報の鮮度を保つのが難しく、競合メディアに差をつけられてしまう。</a:t>
            </a:r>
          </a:p>
        </p:txBody>
      </p:sp>
      <p:pic>
        <p:nvPicPr>
          <p:cNvPr id="29" name="Picture 28" descr="grad_bar.png"/>
          <p:cNvPicPr>
            <a:picLocks noChangeAspect="1"/>
          </p:cNvPicPr>
          <p:nvPr/>
        </p:nvPicPr>
        <p:blipFill>
          <a:blip r:embed="rId3"/>
          <a:stretch>
            <a:fillRect/>
          </a:stretch>
        </p:blipFill>
        <p:spPr>
          <a:xfrm>
            <a:off x="0" y="0"/>
            <a:ext cx="12191695" cy="41148"/>
          </a:xfrm>
          <a:prstGeom prst="rect">
            <a:avLst/>
          </a:prstGeom>
        </p:spPr>
      </p:pic>
      <p:sp>
        <p:nvSpPr>
          <p:cNvPr id="30" name="TextBox 29"/>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31" name="TextBox 30"/>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記事構成</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現在のGoogleで上位表示されやすい「最適な記事構成」とは？</a:t>
            </a:r>
          </a:p>
        </p:txBody>
      </p:sp>
      <p:sp>
        <p:nvSpPr>
          <p:cNvPr id="5" name="TextBox 4"/>
          <p:cNvSpPr txBox="1"/>
          <p:nvPr/>
        </p:nvSpPr>
        <p:spPr>
          <a:xfrm>
            <a:off x="594360" y="1216152"/>
            <a:ext cx="10972800" cy="36576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そのお悩み、AI×コンテンツ資産力の高さ — Drafityがすべて解決します。</a:t>
            </a:r>
          </a:p>
        </p:txBody>
      </p:sp>
      <p:sp>
        <p:nvSpPr>
          <p:cNvPr id="6" name="Rounded Rectangle 5"/>
          <p:cNvSpPr/>
          <p:nvPr/>
        </p:nvSpPr>
        <p:spPr>
          <a:xfrm>
            <a:off x="457200" y="1600200"/>
            <a:ext cx="3657600" cy="457200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on1.png"/>
          <p:cNvPicPr>
            <a:picLocks noChangeAspect="1"/>
          </p:cNvPicPr>
          <p:nvPr/>
        </p:nvPicPr>
        <p:blipFill>
          <a:blip r:embed="rId2"/>
          <a:stretch>
            <a:fillRect/>
          </a:stretch>
        </p:blipFill>
        <p:spPr>
          <a:xfrm>
            <a:off x="777240" y="1828800"/>
            <a:ext cx="3017520" cy="2195246"/>
          </a:xfrm>
          <a:prstGeom prst="rect">
            <a:avLst/>
          </a:prstGeom>
        </p:spPr>
      </p:pic>
      <p:sp>
        <p:nvSpPr>
          <p:cNvPr id="8" name="TextBox 7"/>
          <p:cNvSpPr txBox="1"/>
          <p:nvPr/>
        </p:nvSpPr>
        <p:spPr>
          <a:xfrm>
            <a:off x="731520" y="4160520"/>
            <a:ext cx="3108960" cy="1737360"/>
          </a:xfrm>
          <a:prstGeom prst="rect">
            <a:avLst/>
          </a:prstGeom>
          <a:noFill/>
        </p:spPr>
        <p:txBody>
          <a:bodyPr wrap="square">
            <a:spAutoFit/>
          </a:bodyPr>
          <a:lstStyle/>
          <a:p>
            <a:pPr algn="l">
              <a:spcBef>
                <a:spcPts val="0"/>
              </a:spcBef>
              <a:spcAft>
                <a:spcPts val="400"/>
              </a:spcAft>
            </a:pPr>
            <a:r>
              <a:rPr sz="1200" b="1">
                <a:solidFill>
                  <a:srgbClr val="3B82F6"/>
                </a:solidFill>
                <a:latin typeface="Arial"/>
                <a:ea typeface="Arial"/>
              </a:rPr>
              <a:t>01</a:t>
            </a:r>
          </a:p>
          <a:p>
            <a:pPr algn="l">
              <a:spcBef>
                <a:spcPts val="0"/>
              </a:spcBef>
              <a:spcAft>
                <a:spcPts val="400"/>
              </a:spcAft>
            </a:pPr>
            <a:r>
              <a:rPr sz="1500" b="1">
                <a:solidFill>
                  <a:srgbClr val="0F172A"/>
                </a:solidFill>
                <a:latin typeface="Hiragino Sans"/>
                <a:ea typeface="Hiragino Sans"/>
              </a:rPr>
              <a:t>ピラー・クラスター構造</a:t>
            </a:r>
          </a:p>
          <a:p>
            <a:pPr algn="l">
              <a:spcBef>
                <a:spcPts val="0"/>
              </a:spcBef>
              <a:spcAft>
                <a:spcPts val="400"/>
              </a:spcAft>
            </a:pPr>
            <a:r>
              <a:rPr sz="1200" b="0">
                <a:solidFill>
                  <a:srgbClr val="64748B"/>
                </a:solidFill>
                <a:latin typeface="Hiragino Sans"/>
                <a:ea typeface="Hiragino Sans"/>
              </a:rPr>
              <a:t>ピラー記事（親）とそれを網羅するクラスター記事（子）の網羅的な記事構成。</a:t>
            </a:r>
          </a:p>
        </p:txBody>
      </p:sp>
      <p:sp>
        <p:nvSpPr>
          <p:cNvPr id="9" name="Rounded Rectangle 8"/>
          <p:cNvSpPr/>
          <p:nvPr/>
        </p:nvSpPr>
        <p:spPr>
          <a:xfrm>
            <a:off x="4297680" y="1600200"/>
            <a:ext cx="3657600" cy="457200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on2.png"/>
          <p:cNvPicPr>
            <a:picLocks noChangeAspect="1"/>
          </p:cNvPicPr>
          <p:nvPr/>
        </p:nvPicPr>
        <p:blipFill>
          <a:blip r:embed="rId3"/>
          <a:stretch>
            <a:fillRect/>
          </a:stretch>
        </p:blipFill>
        <p:spPr>
          <a:xfrm>
            <a:off x="4617720" y="1828800"/>
            <a:ext cx="3017520" cy="2195246"/>
          </a:xfrm>
          <a:prstGeom prst="rect">
            <a:avLst/>
          </a:prstGeom>
        </p:spPr>
      </p:pic>
      <p:sp>
        <p:nvSpPr>
          <p:cNvPr id="11" name="TextBox 10"/>
          <p:cNvSpPr txBox="1"/>
          <p:nvPr/>
        </p:nvSpPr>
        <p:spPr>
          <a:xfrm>
            <a:off x="4572000" y="4160520"/>
            <a:ext cx="3108960" cy="1737360"/>
          </a:xfrm>
          <a:prstGeom prst="rect">
            <a:avLst/>
          </a:prstGeom>
          <a:noFill/>
        </p:spPr>
        <p:txBody>
          <a:bodyPr wrap="square">
            <a:spAutoFit/>
          </a:bodyPr>
          <a:lstStyle/>
          <a:p>
            <a:pPr algn="l">
              <a:spcBef>
                <a:spcPts val="0"/>
              </a:spcBef>
              <a:spcAft>
                <a:spcPts val="400"/>
              </a:spcAft>
            </a:pPr>
            <a:r>
              <a:rPr sz="1200" b="1">
                <a:solidFill>
                  <a:srgbClr val="3B82F6"/>
                </a:solidFill>
                <a:latin typeface="Arial"/>
                <a:ea typeface="Arial"/>
              </a:rPr>
              <a:t>02</a:t>
            </a:r>
          </a:p>
          <a:p>
            <a:pPr algn="l">
              <a:spcBef>
                <a:spcPts val="0"/>
              </a:spcBef>
              <a:spcAft>
                <a:spcPts val="400"/>
              </a:spcAft>
            </a:pPr>
            <a:r>
              <a:rPr sz="1500" b="1">
                <a:solidFill>
                  <a:srgbClr val="0F172A"/>
                </a:solidFill>
                <a:latin typeface="Hiragino Sans"/>
                <a:ea typeface="Hiragino Sans"/>
              </a:rPr>
              <a:t>E-E-A-Tへの適応</a:t>
            </a:r>
          </a:p>
          <a:p>
            <a:pPr algn="l">
              <a:spcBef>
                <a:spcPts val="0"/>
              </a:spcBef>
              <a:spcAft>
                <a:spcPts val="400"/>
              </a:spcAft>
            </a:pPr>
            <a:r>
              <a:rPr sz="1200" b="0">
                <a:solidFill>
                  <a:srgbClr val="64748B"/>
                </a:solidFill>
                <a:latin typeface="Hiragino Sans"/>
                <a:ea typeface="Hiragino Sans"/>
              </a:rPr>
              <a:t>経験・専門性・権威性・信頼性を満たした高精度なコンテンツ。</a:t>
            </a:r>
          </a:p>
        </p:txBody>
      </p:sp>
      <p:sp>
        <p:nvSpPr>
          <p:cNvPr id="12" name="Rounded Rectangle 11"/>
          <p:cNvSpPr/>
          <p:nvPr/>
        </p:nvSpPr>
        <p:spPr>
          <a:xfrm>
            <a:off x="8138160" y="1600200"/>
            <a:ext cx="3657600" cy="457200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on3.png"/>
          <p:cNvPicPr>
            <a:picLocks noChangeAspect="1"/>
          </p:cNvPicPr>
          <p:nvPr/>
        </p:nvPicPr>
        <p:blipFill>
          <a:blip r:embed="rId4"/>
          <a:stretch>
            <a:fillRect/>
          </a:stretch>
        </p:blipFill>
        <p:spPr>
          <a:xfrm>
            <a:off x="8458200" y="1828800"/>
            <a:ext cx="3017520" cy="2195246"/>
          </a:xfrm>
          <a:prstGeom prst="rect">
            <a:avLst/>
          </a:prstGeom>
        </p:spPr>
      </p:pic>
      <p:sp>
        <p:nvSpPr>
          <p:cNvPr id="14" name="TextBox 13"/>
          <p:cNvSpPr txBox="1"/>
          <p:nvPr/>
        </p:nvSpPr>
        <p:spPr>
          <a:xfrm>
            <a:off x="8412480" y="4160520"/>
            <a:ext cx="3108960" cy="1737360"/>
          </a:xfrm>
          <a:prstGeom prst="rect">
            <a:avLst/>
          </a:prstGeom>
          <a:noFill/>
        </p:spPr>
        <p:txBody>
          <a:bodyPr wrap="square">
            <a:spAutoFit/>
          </a:bodyPr>
          <a:lstStyle/>
          <a:p>
            <a:pPr algn="l">
              <a:spcBef>
                <a:spcPts val="0"/>
              </a:spcBef>
              <a:spcAft>
                <a:spcPts val="400"/>
              </a:spcAft>
            </a:pPr>
            <a:r>
              <a:rPr sz="1200" b="1">
                <a:solidFill>
                  <a:srgbClr val="3B82F6"/>
                </a:solidFill>
                <a:latin typeface="Arial"/>
                <a:ea typeface="Arial"/>
              </a:rPr>
              <a:t>03</a:t>
            </a:r>
          </a:p>
          <a:p>
            <a:pPr algn="l">
              <a:spcBef>
                <a:spcPts val="0"/>
              </a:spcBef>
              <a:spcAft>
                <a:spcPts val="400"/>
              </a:spcAft>
            </a:pPr>
            <a:r>
              <a:rPr sz="1500" b="1">
                <a:solidFill>
                  <a:srgbClr val="0F172A"/>
                </a:solidFill>
                <a:latin typeface="Hiragino Sans"/>
                <a:ea typeface="Hiragino Sans"/>
              </a:rPr>
              <a:t>ユーザーファースト</a:t>
            </a:r>
          </a:p>
          <a:p>
            <a:pPr algn="l">
              <a:spcBef>
                <a:spcPts val="0"/>
              </a:spcBef>
              <a:spcAft>
                <a:spcPts val="400"/>
              </a:spcAft>
            </a:pPr>
            <a:r>
              <a:rPr sz="1200" b="0">
                <a:solidFill>
                  <a:srgbClr val="64748B"/>
                </a:solidFill>
                <a:latin typeface="Hiragino Sans"/>
                <a:ea typeface="Hiragino Sans"/>
              </a:rPr>
              <a:t>単なる宣伝ではなく、サイトテーマに準じた読者の課題を解決する役立つ記事。</a:t>
            </a:r>
          </a:p>
        </p:txBody>
      </p:sp>
      <p:pic>
        <p:nvPicPr>
          <p:cNvPr id="15" name="Picture 14" descr="grad_bar.png"/>
          <p:cNvPicPr>
            <a:picLocks noChangeAspect="1"/>
          </p:cNvPicPr>
          <p:nvPr/>
        </p:nvPicPr>
        <p:blipFill>
          <a:blip r:embed="rId5"/>
          <a:stretch>
            <a:fillRect/>
          </a:stretch>
        </p:blipFill>
        <p:spPr>
          <a:xfrm>
            <a:off x="0" y="0"/>
            <a:ext cx="12191695" cy="41148"/>
          </a:xfrm>
          <a:prstGeom prst="rect">
            <a:avLst/>
          </a:prstGeom>
        </p:spPr>
      </p:pic>
      <p:sp>
        <p:nvSpPr>
          <p:cNvPr id="16" name="TextBox 15"/>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17" name="TextBox 16"/>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機能一覧  01–03</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記事制作のすべてを、Drafityひとつで。</a:t>
            </a:r>
          </a:p>
        </p:txBody>
      </p:sp>
      <p:sp>
        <p:nvSpPr>
          <p:cNvPr id="5" name="TextBox 4"/>
          <p:cNvSpPr txBox="1"/>
          <p:nvPr/>
        </p:nvSpPr>
        <p:spPr>
          <a:xfrm>
            <a:off x="594360" y="1216152"/>
            <a:ext cx="10972800" cy="36576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SEOに強い記事制作から運用・改善まで、必要な機能をすべて搭載。</a:t>
            </a:r>
          </a:p>
        </p:txBody>
      </p:sp>
      <p:sp>
        <p:nvSpPr>
          <p:cNvPr id="6" name="Rounded Rectangle 5"/>
          <p:cNvSpPr/>
          <p:nvPr/>
        </p:nvSpPr>
        <p:spPr>
          <a:xfrm>
            <a:off x="457200" y="1600200"/>
            <a:ext cx="3657600" cy="44348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d_v.png"/>
          <p:cNvPicPr>
            <a:picLocks noChangeAspect="1"/>
          </p:cNvPicPr>
          <p:nvPr/>
        </p:nvPicPr>
        <p:blipFill>
          <a:blip r:embed="rId2"/>
          <a:stretch>
            <a:fillRect/>
          </a:stretch>
        </p:blipFill>
        <p:spPr>
          <a:xfrm>
            <a:off x="457200" y="1673352"/>
            <a:ext cx="54864" cy="4288536"/>
          </a:xfrm>
          <a:prstGeom prst="rect">
            <a:avLst/>
          </a:prstGeom>
        </p:spPr>
      </p:pic>
      <p:sp>
        <p:nvSpPr>
          <p:cNvPr id="8" name="TextBox 7"/>
          <p:cNvSpPr txBox="1"/>
          <p:nvPr/>
        </p:nvSpPr>
        <p:spPr>
          <a:xfrm>
            <a:off x="731520" y="1874519"/>
            <a:ext cx="3108960" cy="548640"/>
          </a:xfrm>
          <a:prstGeom prst="rect">
            <a:avLst/>
          </a:prstGeom>
          <a:noFill/>
        </p:spPr>
        <p:txBody>
          <a:bodyPr wrap="square">
            <a:spAutoFit/>
          </a:bodyPr>
          <a:lstStyle/>
          <a:p>
            <a:pPr algn="l">
              <a:spcBef>
                <a:spcPts val="0"/>
              </a:spcBef>
              <a:spcAft>
                <a:spcPts val="400"/>
              </a:spcAft>
            </a:pPr>
            <a:r>
              <a:rPr sz="2800" b="1">
                <a:solidFill>
                  <a:srgbClr val="3B82F6"/>
                </a:solidFill>
                <a:latin typeface="Arial"/>
                <a:ea typeface="Arial"/>
              </a:rPr>
              <a:t>01</a:t>
            </a:r>
          </a:p>
        </p:txBody>
      </p:sp>
      <p:sp>
        <p:nvSpPr>
          <p:cNvPr id="9" name="TextBox 8"/>
          <p:cNvSpPr txBox="1"/>
          <p:nvPr/>
        </p:nvSpPr>
        <p:spPr>
          <a:xfrm>
            <a:off x="731520" y="2606040"/>
            <a:ext cx="3108960" cy="2926080"/>
          </a:xfrm>
          <a:prstGeom prst="rect">
            <a:avLst/>
          </a:prstGeom>
          <a:noFill/>
        </p:spPr>
        <p:txBody>
          <a:bodyPr wrap="square">
            <a:spAutoFit/>
          </a:bodyPr>
          <a:lstStyle/>
          <a:p>
            <a:pPr algn="l">
              <a:spcBef>
                <a:spcPts val="0"/>
              </a:spcBef>
              <a:spcAft>
                <a:spcPts val="400"/>
              </a:spcAft>
            </a:pPr>
            <a:r>
              <a:rPr sz="1800" b="1">
                <a:solidFill>
                  <a:srgbClr val="0F172A"/>
                </a:solidFill>
                <a:latin typeface="Hiragino Sans"/>
                <a:ea typeface="Hiragino Sans"/>
              </a:rPr>
              <a:t>AIターゲット定義</a:t>
            </a:r>
          </a:p>
          <a:p>
            <a:pPr algn="l">
              <a:spcBef>
                <a:spcPts val="0"/>
              </a:spcBef>
              <a:spcAft>
                <a:spcPts val="400"/>
              </a:spcAft>
            </a:pPr>
            <a:r>
              <a:rPr sz="1000" b="0">
                <a:solidFill>
                  <a:srgbClr val="0F172A"/>
                </a:solidFill>
                <a:latin typeface="Hiragino Sans"/>
                <a:ea typeface="Hiragino Sans"/>
              </a:rPr>
              <a:t/>
            </a:r>
          </a:p>
          <a:p>
            <a:pPr algn="l">
              <a:spcBef>
                <a:spcPts val="0"/>
              </a:spcBef>
              <a:spcAft>
                <a:spcPts val="400"/>
              </a:spcAft>
            </a:pPr>
            <a:r>
              <a:rPr sz="1300" b="0">
                <a:solidFill>
                  <a:srgbClr val="64748B"/>
                </a:solidFill>
                <a:latin typeface="Hiragino Sans"/>
                <a:ea typeface="Hiragino Sans"/>
              </a:rPr>
              <a:t>AIがあなたの希望のターゲット選定を詳細化するので、手軽に的確な定義設計ができます。</a:t>
            </a:r>
          </a:p>
        </p:txBody>
      </p:sp>
      <p:sp>
        <p:nvSpPr>
          <p:cNvPr id="10" name="Rounded Rectangle 9"/>
          <p:cNvSpPr/>
          <p:nvPr/>
        </p:nvSpPr>
        <p:spPr>
          <a:xfrm>
            <a:off x="4297680" y="1600200"/>
            <a:ext cx="3657600" cy="44348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874519"/>
            <a:ext cx="3108960" cy="548640"/>
          </a:xfrm>
          <a:prstGeom prst="rect">
            <a:avLst/>
          </a:prstGeom>
          <a:noFill/>
        </p:spPr>
        <p:txBody>
          <a:bodyPr wrap="square">
            <a:spAutoFit/>
          </a:bodyPr>
          <a:lstStyle/>
          <a:p>
            <a:pPr algn="l">
              <a:spcBef>
                <a:spcPts val="0"/>
              </a:spcBef>
              <a:spcAft>
                <a:spcPts val="400"/>
              </a:spcAft>
            </a:pPr>
            <a:r>
              <a:rPr sz="2800" b="1">
                <a:solidFill>
                  <a:srgbClr val="94A3B8"/>
                </a:solidFill>
                <a:latin typeface="Arial"/>
                <a:ea typeface="Arial"/>
              </a:rPr>
              <a:t>02</a:t>
            </a:r>
          </a:p>
        </p:txBody>
      </p:sp>
      <p:sp>
        <p:nvSpPr>
          <p:cNvPr id="12" name="TextBox 11"/>
          <p:cNvSpPr txBox="1"/>
          <p:nvPr/>
        </p:nvSpPr>
        <p:spPr>
          <a:xfrm>
            <a:off x="4572000" y="2606040"/>
            <a:ext cx="3108960" cy="2926080"/>
          </a:xfrm>
          <a:prstGeom prst="rect">
            <a:avLst/>
          </a:prstGeom>
          <a:noFill/>
        </p:spPr>
        <p:txBody>
          <a:bodyPr wrap="square">
            <a:spAutoFit/>
          </a:bodyPr>
          <a:lstStyle/>
          <a:p>
            <a:pPr algn="l">
              <a:spcBef>
                <a:spcPts val="0"/>
              </a:spcBef>
              <a:spcAft>
                <a:spcPts val="400"/>
              </a:spcAft>
            </a:pPr>
            <a:r>
              <a:rPr sz="1800" b="1">
                <a:solidFill>
                  <a:srgbClr val="0F172A"/>
                </a:solidFill>
                <a:latin typeface="Hiragino Sans"/>
                <a:ea typeface="Hiragino Sans"/>
              </a:rPr>
              <a:t>ピラータイトルの自動提案</a:t>
            </a:r>
          </a:p>
          <a:p>
            <a:pPr algn="l">
              <a:spcBef>
                <a:spcPts val="0"/>
              </a:spcBef>
              <a:spcAft>
                <a:spcPts val="400"/>
              </a:spcAft>
            </a:pPr>
            <a:r>
              <a:rPr sz="1000" b="0">
                <a:solidFill>
                  <a:srgbClr val="0F172A"/>
                </a:solidFill>
                <a:latin typeface="Hiragino Sans"/>
                <a:ea typeface="Hiragino Sans"/>
              </a:rPr>
              <a:t/>
            </a:r>
          </a:p>
          <a:p>
            <a:pPr algn="l">
              <a:spcBef>
                <a:spcPts val="0"/>
              </a:spcBef>
              <a:spcAft>
                <a:spcPts val="400"/>
              </a:spcAft>
            </a:pPr>
            <a:r>
              <a:rPr sz="1300" b="0">
                <a:solidFill>
                  <a:srgbClr val="64748B"/>
                </a:solidFill>
                <a:latin typeface="Hiragino Sans"/>
                <a:ea typeface="Hiragino Sans"/>
              </a:rPr>
              <a:t>SEOに強くユーザービューイングの高いタイトル構成をAIが自動で作成。</a:t>
            </a:r>
          </a:p>
        </p:txBody>
      </p:sp>
      <p:sp>
        <p:nvSpPr>
          <p:cNvPr id="13" name="Rounded Rectangle 12"/>
          <p:cNvSpPr/>
          <p:nvPr/>
        </p:nvSpPr>
        <p:spPr>
          <a:xfrm>
            <a:off x="8138160" y="1600200"/>
            <a:ext cx="3657600" cy="44348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874519"/>
            <a:ext cx="3108960" cy="548640"/>
          </a:xfrm>
          <a:prstGeom prst="rect">
            <a:avLst/>
          </a:prstGeom>
          <a:noFill/>
        </p:spPr>
        <p:txBody>
          <a:bodyPr wrap="square">
            <a:spAutoFit/>
          </a:bodyPr>
          <a:lstStyle/>
          <a:p>
            <a:pPr algn="l">
              <a:spcBef>
                <a:spcPts val="0"/>
              </a:spcBef>
              <a:spcAft>
                <a:spcPts val="400"/>
              </a:spcAft>
            </a:pPr>
            <a:r>
              <a:rPr sz="2800" b="1">
                <a:solidFill>
                  <a:srgbClr val="94A3B8"/>
                </a:solidFill>
                <a:latin typeface="Arial"/>
                <a:ea typeface="Arial"/>
              </a:rPr>
              <a:t>03</a:t>
            </a:r>
          </a:p>
        </p:txBody>
      </p:sp>
      <p:sp>
        <p:nvSpPr>
          <p:cNvPr id="15" name="TextBox 14"/>
          <p:cNvSpPr txBox="1"/>
          <p:nvPr/>
        </p:nvSpPr>
        <p:spPr>
          <a:xfrm>
            <a:off x="8412480" y="2606040"/>
            <a:ext cx="3108960" cy="2926080"/>
          </a:xfrm>
          <a:prstGeom prst="rect">
            <a:avLst/>
          </a:prstGeom>
          <a:noFill/>
        </p:spPr>
        <p:txBody>
          <a:bodyPr wrap="square">
            <a:spAutoFit/>
          </a:bodyPr>
          <a:lstStyle/>
          <a:p>
            <a:pPr algn="l">
              <a:spcBef>
                <a:spcPts val="0"/>
              </a:spcBef>
              <a:spcAft>
                <a:spcPts val="400"/>
              </a:spcAft>
            </a:pPr>
            <a:r>
              <a:rPr sz="1800" b="1">
                <a:solidFill>
                  <a:srgbClr val="0F172A"/>
                </a:solidFill>
                <a:latin typeface="Hiragino Sans"/>
                <a:ea typeface="Hiragino Sans"/>
              </a:rPr>
              <a:t>本文の自動生成</a:t>
            </a:r>
          </a:p>
          <a:p>
            <a:pPr algn="l">
              <a:spcBef>
                <a:spcPts val="0"/>
              </a:spcBef>
              <a:spcAft>
                <a:spcPts val="400"/>
              </a:spcAft>
            </a:pPr>
            <a:r>
              <a:rPr sz="1000" b="0">
                <a:solidFill>
                  <a:srgbClr val="0F172A"/>
                </a:solidFill>
                <a:latin typeface="Hiragino Sans"/>
                <a:ea typeface="Hiragino Sans"/>
              </a:rPr>
              <a:t/>
            </a:r>
          </a:p>
          <a:p>
            <a:pPr algn="l">
              <a:spcBef>
                <a:spcPts val="0"/>
              </a:spcBef>
              <a:spcAft>
                <a:spcPts val="400"/>
              </a:spcAft>
            </a:pPr>
            <a:r>
              <a:rPr sz="1300" b="0">
                <a:solidFill>
                  <a:srgbClr val="64748B"/>
                </a:solidFill>
                <a:latin typeface="Hiragino Sans"/>
                <a:ea typeface="Hiragino Sans"/>
              </a:rPr>
              <a:t>自然な文章をAIが生成。高品質な記事を短時間で作成。</a:t>
            </a:r>
          </a:p>
        </p:txBody>
      </p:sp>
      <p:pic>
        <p:nvPicPr>
          <p:cNvPr id="16" name="Picture 15" descr="grad_bar.png"/>
          <p:cNvPicPr>
            <a:picLocks noChangeAspect="1"/>
          </p:cNvPicPr>
          <p:nvPr/>
        </p:nvPicPr>
        <p:blipFill>
          <a:blip r:embed="rId3"/>
          <a:stretch>
            <a:fillRect/>
          </a:stretch>
        </p:blipFill>
        <p:spPr>
          <a:xfrm>
            <a:off x="0" y="0"/>
            <a:ext cx="12191695" cy="41148"/>
          </a:xfrm>
          <a:prstGeom prst="rect">
            <a:avLst/>
          </a:prstGeom>
        </p:spPr>
      </p:pic>
      <p:sp>
        <p:nvSpPr>
          <p:cNvPr id="17" name="TextBox 16"/>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18" name="TextBox 17"/>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機能一覧  04–06</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画像生成・クラスター・公開連携まで一気通貫</a:t>
            </a:r>
          </a:p>
        </p:txBody>
      </p:sp>
      <p:sp>
        <p:nvSpPr>
          <p:cNvPr id="5" name="Rounded Rectangle 4"/>
          <p:cNvSpPr/>
          <p:nvPr/>
        </p:nvSpPr>
        <p:spPr>
          <a:xfrm>
            <a:off x="457200" y="1508760"/>
            <a:ext cx="3657600" cy="402336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3108960" cy="548640"/>
          </a:xfrm>
          <a:prstGeom prst="rect">
            <a:avLst/>
          </a:prstGeom>
          <a:noFill/>
        </p:spPr>
        <p:txBody>
          <a:bodyPr wrap="square">
            <a:spAutoFit/>
          </a:bodyPr>
          <a:lstStyle/>
          <a:p>
            <a:pPr algn="l">
              <a:spcBef>
                <a:spcPts val="0"/>
              </a:spcBef>
              <a:spcAft>
                <a:spcPts val="400"/>
              </a:spcAft>
            </a:pPr>
            <a:r>
              <a:rPr sz="2800" b="1">
                <a:solidFill>
                  <a:srgbClr val="94A3B8"/>
                </a:solidFill>
                <a:latin typeface="Arial"/>
                <a:ea typeface="Arial"/>
              </a:rPr>
              <a:t>04</a:t>
            </a:r>
          </a:p>
        </p:txBody>
      </p:sp>
      <p:sp>
        <p:nvSpPr>
          <p:cNvPr id="7" name="TextBox 6"/>
          <p:cNvSpPr txBox="1"/>
          <p:nvPr/>
        </p:nvSpPr>
        <p:spPr>
          <a:xfrm>
            <a:off x="731520" y="2514600"/>
            <a:ext cx="3108960" cy="2560320"/>
          </a:xfrm>
          <a:prstGeom prst="rect">
            <a:avLst/>
          </a:prstGeom>
          <a:noFill/>
        </p:spPr>
        <p:txBody>
          <a:bodyPr wrap="square">
            <a:spAutoFit/>
          </a:bodyPr>
          <a:lstStyle/>
          <a:p>
            <a:pPr algn="l">
              <a:spcBef>
                <a:spcPts val="0"/>
              </a:spcBef>
              <a:spcAft>
                <a:spcPts val="400"/>
              </a:spcAft>
            </a:pPr>
            <a:r>
              <a:rPr sz="1700" b="1">
                <a:solidFill>
                  <a:srgbClr val="0F172A"/>
                </a:solidFill>
                <a:latin typeface="Hiragino Sans"/>
                <a:ea typeface="Hiragino Sans"/>
              </a:rPr>
              <a:t>画像の自動生成</a:t>
            </a:r>
          </a:p>
          <a:p>
            <a:pPr algn="l">
              <a:spcBef>
                <a:spcPts val="0"/>
              </a:spcBef>
              <a:spcAft>
                <a:spcPts val="400"/>
              </a:spcAft>
            </a:pPr>
            <a:r>
              <a:rPr sz="1000" b="0">
                <a:solidFill>
                  <a:srgbClr val="0F172A"/>
                </a:solidFill>
                <a:latin typeface="Hiragino Sans"/>
                <a:ea typeface="Hiragino Sans"/>
              </a:rPr>
              <a:t/>
            </a:r>
          </a:p>
          <a:p>
            <a:pPr algn="l">
              <a:spcBef>
                <a:spcPts val="0"/>
              </a:spcBef>
              <a:spcAft>
                <a:spcPts val="400"/>
              </a:spcAft>
            </a:pPr>
            <a:r>
              <a:rPr sz="1300" b="0">
                <a:solidFill>
                  <a:srgbClr val="64748B"/>
                </a:solidFill>
                <a:latin typeface="Hiragino Sans"/>
                <a:ea typeface="Hiragino Sans"/>
              </a:rPr>
              <a:t>記事内容に合った画像やアイキャッチをAIが自動で生成・提案。</a:t>
            </a:r>
          </a:p>
        </p:txBody>
      </p:sp>
      <p:sp>
        <p:nvSpPr>
          <p:cNvPr id="8" name="Rounded Rectangle 7"/>
          <p:cNvSpPr/>
          <p:nvPr/>
        </p:nvSpPr>
        <p:spPr>
          <a:xfrm>
            <a:off x="4297680" y="1508760"/>
            <a:ext cx="3657600" cy="402336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783080"/>
            <a:ext cx="3108960" cy="548640"/>
          </a:xfrm>
          <a:prstGeom prst="rect">
            <a:avLst/>
          </a:prstGeom>
          <a:noFill/>
        </p:spPr>
        <p:txBody>
          <a:bodyPr wrap="square">
            <a:spAutoFit/>
          </a:bodyPr>
          <a:lstStyle/>
          <a:p>
            <a:pPr algn="l">
              <a:spcBef>
                <a:spcPts val="0"/>
              </a:spcBef>
              <a:spcAft>
                <a:spcPts val="400"/>
              </a:spcAft>
            </a:pPr>
            <a:r>
              <a:rPr sz="2800" b="1">
                <a:solidFill>
                  <a:srgbClr val="94A3B8"/>
                </a:solidFill>
                <a:latin typeface="Arial"/>
                <a:ea typeface="Arial"/>
              </a:rPr>
              <a:t>05</a:t>
            </a:r>
          </a:p>
        </p:txBody>
      </p:sp>
      <p:sp>
        <p:nvSpPr>
          <p:cNvPr id="10" name="TextBox 9"/>
          <p:cNvSpPr txBox="1"/>
          <p:nvPr/>
        </p:nvSpPr>
        <p:spPr>
          <a:xfrm>
            <a:off x="4572000" y="2514600"/>
            <a:ext cx="3108960" cy="2560320"/>
          </a:xfrm>
          <a:prstGeom prst="rect">
            <a:avLst/>
          </a:prstGeom>
          <a:noFill/>
        </p:spPr>
        <p:txBody>
          <a:bodyPr wrap="square">
            <a:spAutoFit/>
          </a:bodyPr>
          <a:lstStyle/>
          <a:p>
            <a:pPr algn="l">
              <a:spcBef>
                <a:spcPts val="0"/>
              </a:spcBef>
              <a:spcAft>
                <a:spcPts val="400"/>
              </a:spcAft>
            </a:pPr>
            <a:r>
              <a:rPr sz="1700" b="1">
                <a:solidFill>
                  <a:srgbClr val="0F172A"/>
                </a:solidFill>
                <a:latin typeface="Hiragino Sans"/>
                <a:ea typeface="Hiragino Sans"/>
              </a:rPr>
              <a:t>クラスタータイトル・記事の自動提案・作成</a:t>
            </a:r>
          </a:p>
          <a:p>
            <a:pPr algn="l">
              <a:spcBef>
                <a:spcPts val="0"/>
              </a:spcBef>
              <a:spcAft>
                <a:spcPts val="400"/>
              </a:spcAft>
            </a:pPr>
            <a:r>
              <a:rPr sz="1000" b="0">
                <a:solidFill>
                  <a:srgbClr val="0F172A"/>
                </a:solidFill>
                <a:latin typeface="Hiragino Sans"/>
                <a:ea typeface="Hiragino Sans"/>
              </a:rPr>
              <a:t/>
            </a:r>
          </a:p>
          <a:p>
            <a:pPr algn="l">
              <a:spcBef>
                <a:spcPts val="0"/>
              </a:spcBef>
              <a:spcAft>
                <a:spcPts val="400"/>
              </a:spcAft>
            </a:pPr>
            <a:r>
              <a:rPr sz="1300" b="0">
                <a:solidFill>
                  <a:srgbClr val="64748B"/>
                </a:solidFill>
                <a:latin typeface="Hiragino Sans"/>
                <a:ea typeface="Hiragino Sans"/>
              </a:rPr>
              <a:t>親タイトル・記事から最適な構成になる子タイトルを平均15個自動で提案します。</a:t>
            </a:r>
          </a:p>
        </p:txBody>
      </p:sp>
      <p:sp>
        <p:nvSpPr>
          <p:cNvPr id="11" name="Rounded Rectangle 10"/>
          <p:cNvSpPr/>
          <p:nvPr/>
        </p:nvSpPr>
        <p:spPr>
          <a:xfrm>
            <a:off x="8138160" y="1508760"/>
            <a:ext cx="3657600" cy="402336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rad_v.png"/>
          <p:cNvPicPr>
            <a:picLocks noChangeAspect="1"/>
          </p:cNvPicPr>
          <p:nvPr/>
        </p:nvPicPr>
        <p:blipFill>
          <a:blip r:embed="rId2"/>
          <a:stretch>
            <a:fillRect/>
          </a:stretch>
        </p:blipFill>
        <p:spPr>
          <a:xfrm>
            <a:off x="8138160" y="1581912"/>
            <a:ext cx="54864" cy="3877056"/>
          </a:xfrm>
          <a:prstGeom prst="rect">
            <a:avLst/>
          </a:prstGeom>
        </p:spPr>
      </p:pic>
      <p:sp>
        <p:nvSpPr>
          <p:cNvPr id="13" name="TextBox 12"/>
          <p:cNvSpPr txBox="1"/>
          <p:nvPr/>
        </p:nvSpPr>
        <p:spPr>
          <a:xfrm>
            <a:off x="8412480" y="1783080"/>
            <a:ext cx="3108960" cy="548640"/>
          </a:xfrm>
          <a:prstGeom prst="rect">
            <a:avLst/>
          </a:prstGeom>
          <a:noFill/>
        </p:spPr>
        <p:txBody>
          <a:bodyPr wrap="square">
            <a:spAutoFit/>
          </a:bodyPr>
          <a:lstStyle/>
          <a:p>
            <a:pPr algn="l">
              <a:spcBef>
                <a:spcPts val="0"/>
              </a:spcBef>
              <a:spcAft>
                <a:spcPts val="400"/>
              </a:spcAft>
            </a:pPr>
            <a:r>
              <a:rPr sz="2800" b="1">
                <a:solidFill>
                  <a:srgbClr val="8B5CF6"/>
                </a:solidFill>
                <a:latin typeface="Arial"/>
                <a:ea typeface="Arial"/>
              </a:rPr>
              <a:t>06</a:t>
            </a:r>
          </a:p>
        </p:txBody>
      </p:sp>
      <p:sp>
        <p:nvSpPr>
          <p:cNvPr id="14" name="TextBox 13"/>
          <p:cNvSpPr txBox="1"/>
          <p:nvPr/>
        </p:nvSpPr>
        <p:spPr>
          <a:xfrm>
            <a:off x="8412480" y="2514600"/>
            <a:ext cx="3108960" cy="2560320"/>
          </a:xfrm>
          <a:prstGeom prst="rect">
            <a:avLst/>
          </a:prstGeom>
          <a:noFill/>
        </p:spPr>
        <p:txBody>
          <a:bodyPr wrap="square">
            <a:spAutoFit/>
          </a:bodyPr>
          <a:lstStyle/>
          <a:p>
            <a:pPr algn="l">
              <a:spcBef>
                <a:spcPts val="0"/>
              </a:spcBef>
              <a:spcAft>
                <a:spcPts val="400"/>
              </a:spcAft>
            </a:pPr>
            <a:r>
              <a:rPr sz="1700" b="1">
                <a:solidFill>
                  <a:srgbClr val="0F172A"/>
                </a:solidFill>
                <a:latin typeface="Hiragino Sans"/>
                <a:ea typeface="Hiragino Sans"/>
              </a:rPr>
              <a:t>公開・連携</a:t>
            </a:r>
          </a:p>
          <a:p>
            <a:pPr algn="l">
              <a:spcBef>
                <a:spcPts val="0"/>
              </a:spcBef>
              <a:spcAft>
                <a:spcPts val="400"/>
              </a:spcAft>
            </a:pPr>
            <a:r>
              <a:rPr sz="1000" b="0">
                <a:solidFill>
                  <a:srgbClr val="0F172A"/>
                </a:solidFill>
                <a:latin typeface="Hiragino Sans"/>
                <a:ea typeface="Hiragino Sans"/>
              </a:rPr>
              <a:t/>
            </a:r>
          </a:p>
          <a:p>
            <a:pPr algn="l">
              <a:spcBef>
                <a:spcPts val="0"/>
              </a:spcBef>
              <a:spcAft>
                <a:spcPts val="400"/>
              </a:spcAft>
            </a:pPr>
            <a:r>
              <a:rPr sz="1300" b="0">
                <a:solidFill>
                  <a:srgbClr val="64748B"/>
                </a:solidFill>
                <a:latin typeface="Hiragino Sans"/>
                <a:ea typeface="Hiragino Sans"/>
              </a:rPr>
              <a:t>WordPress連携でワンクリック公開。スムーズに入稿・運用が可能。</a:t>
            </a:r>
          </a:p>
        </p:txBody>
      </p:sp>
      <p:sp>
        <p:nvSpPr>
          <p:cNvPr id="15" name="Rounded Rectangle 14"/>
          <p:cNvSpPr/>
          <p:nvPr/>
        </p:nvSpPr>
        <p:spPr>
          <a:xfrm>
            <a:off x="457200" y="5715000"/>
            <a:ext cx="11247120" cy="502920"/>
          </a:xfrm>
          <a:prstGeom prst="roundRect">
            <a:avLst>
              <a:gd name="adj" fmla="val 3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806440"/>
            <a:ext cx="10972800" cy="365760"/>
          </a:xfrm>
          <a:prstGeom prst="rect">
            <a:avLst/>
          </a:prstGeom>
          <a:noFill/>
        </p:spPr>
        <p:txBody>
          <a:bodyPr wrap="square">
            <a:spAutoFit/>
          </a:bodyPr>
          <a:lstStyle/>
          <a:p>
            <a:pPr algn="ctr">
              <a:spcBef>
                <a:spcPts val="0"/>
              </a:spcBef>
              <a:spcAft>
                <a:spcPts val="400"/>
              </a:spcAft>
            </a:pPr>
            <a:r>
              <a:rPr sz="1200" b="1">
                <a:solidFill>
                  <a:srgbClr val="3B82F6"/>
                </a:solidFill>
                <a:latin typeface="Hiragino Sans"/>
                <a:ea typeface="Hiragino Sans"/>
              </a:rPr>
              <a:t>制作時間を大幅カット  ·  SEO成果を最大化  ·  品質を保ちながら安定運用  ·  記事精度を上げる定期更新</a:t>
            </a:r>
          </a:p>
        </p:txBody>
      </p:sp>
      <p:pic>
        <p:nvPicPr>
          <p:cNvPr id="17" name="Picture 16" descr="grad_bar.png"/>
          <p:cNvPicPr>
            <a:picLocks noChangeAspect="1"/>
          </p:cNvPicPr>
          <p:nvPr/>
        </p:nvPicPr>
        <p:blipFill>
          <a:blip r:embed="rId3"/>
          <a:stretch>
            <a:fillRect/>
          </a:stretch>
        </p:blipFill>
        <p:spPr>
          <a:xfrm>
            <a:off x="0" y="0"/>
            <a:ext cx="12191695" cy="41148"/>
          </a:xfrm>
          <a:prstGeom prst="rect">
            <a:avLst/>
          </a:prstGeom>
        </p:spPr>
      </p:pic>
      <p:sp>
        <p:nvSpPr>
          <p:cNvPr id="18" name="TextBox 17"/>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19" name="TextBox 18"/>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ダッシュボード</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すべてが一目でわかる、シンプルなダッシュボード</a:t>
            </a:r>
          </a:p>
        </p:txBody>
      </p:sp>
      <p:sp>
        <p:nvSpPr>
          <p:cNvPr id="5" name="TextBox 4"/>
          <p:cNvSpPr txBox="1"/>
          <p:nvPr/>
        </p:nvSpPr>
        <p:spPr>
          <a:xfrm>
            <a:off x="594360" y="1216152"/>
            <a:ext cx="10972800" cy="36576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記事生成から公開の確認まで。必要な情報をリアルタイムで可視化します。</a:t>
            </a:r>
          </a:p>
        </p:txBody>
      </p:sp>
      <p:sp>
        <p:nvSpPr>
          <p:cNvPr id="6" name="Rounded Rectangle 5"/>
          <p:cNvSpPr/>
          <p:nvPr/>
        </p:nvSpPr>
        <p:spPr>
          <a:xfrm>
            <a:off x="457200" y="1554480"/>
            <a:ext cx="4937760" cy="91440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d_v.png"/>
          <p:cNvPicPr>
            <a:picLocks noChangeAspect="1"/>
          </p:cNvPicPr>
          <p:nvPr/>
        </p:nvPicPr>
        <p:blipFill>
          <a:blip r:embed="rId2"/>
          <a:stretch>
            <a:fillRect/>
          </a:stretch>
        </p:blipFill>
        <p:spPr>
          <a:xfrm>
            <a:off x="457200" y="1627632"/>
            <a:ext cx="54864" cy="768096"/>
          </a:xfrm>
          <a:prstGeom prst="rect">
            <a:avLst/>
          </a:prstGeom>
        </p:spPr>
      </p:pic>
      <p:sp>
        <p:nvSpPr>
          <p:cNvPr id="8" name="TextBox 7"/>
          <p:cNvSpPr txBox="1"/>
          <p:nvPr/>
        </p:nvSpPr>
        <p:spPr>
          <a:xfrm>
            <a:off x="777240" y="1691639"/>
            <a:ext cx="4434840" cy="6858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重要指標をリアルタイムで把握</a:t>
            </a:r>
          </a:p>
          <a:p>
            <a:pPr algn="l">
              <a:spcBef>
                <a:spcPts val="0"/>
              </a:spcBef>
              <a:spcAft>
                <a:spcPts val="400"/>
              </a:spcAft>
            </a:pPr>
            <a:r>
              <a:rPr sz="1100" b="0">
                <a:solidFill>
                  <a:srgbClr val="64748B"/>
                </a:solidFill>
                <a:latin typeface="Hiragino Sans"/>
                <a:ea typeface="Hiragino Sans"/>
              </a:rPr>
              <a:t>総生成数・公開済・下書き・成功率など、主要な情報をひと目で確認</a:t>
            </a:r>
          </a:p>
        </p:txBody>
      </p:sp>
      <p:sp>
        <p:nvSpPr>
          <p:cNvPr id="9" name="Rounded Rectangle 8"/>
          <p:cNvSpPr/>
          <p:nvPr/>
        </p:nvSpPr>
        <p:spPr>
          <a:xfrm>
            <a:off x="457200" y="2606039"/>
            <a:ext cx="4937760" cy="91440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rad_v.png"/>
          <p:cNvPicPr>
            <a:picLocks noChangeAspect="1"/>
          </p:cNvPicPr>
          <p:nvPr/>
        </p:nvPicPr>
        <p:blipFill>
          <a:blip r:embed="rId2"/>
          <a:stretch>
            <a:fillRect/>
          </a:stretch>
        </p:blipFill>
        <p:spPr>
          <a:xfrm>
            <a:off x="457200" y="2679191"/>
            <a:ext cx="54864" cy="768096"/>
          </a:xfrm>
          <a:prstGeom prst="rect">
            <a:avLst/>
          </a:prstGeom>
        </p:spPr>
      </p:pic>
      <p:sp>
        <p:nvSpPr>
          <p:cNvPr id="11" name="TextBox 10"/>
          <p:cNvSpPr txBox="1"/>
          <p:nvPr/>
        </p:nvSpPr>
        <p:spPr>
          <a:xfrm>
            <a:off x="777240" y="2743199"/>
            <a:ext cx="4434840" cy="6858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ジャンルごとの記事状況を可視化</a:t>
            </a:r>
          </a:p>
          <a:p>
            <a:pPr algn="l">
              <a:spcBef>
                <a:spcPts val="0"/>
              </a:spcBef>
              <a:spcAft>
                <a:spcPts val="400"/>
              </a:spcAft>
            </a:pPr>
            <a:r>
              <a:rPr sz="1100" b="0">
                <a:solidFill>
                  <a:srgbClr val="64748B"/>
                </a:solidFill>
                <a:latin typeface="Hiragino Sans"/>
                <a:ea typeface="Hiragino Sans"/>
              </a:rPr>
              <a:t>ジャンル別の記事総数と、Pillar / Clusterの内訳を確認</a:t>
            </a:r>
          </a:p>
        </p:txBody>
      </p:sp>
      <p:sp>
        <p:nvSpPr>
          <p:cNvPr id="12" name="Rounded Rectangle 11"/>
          <p:cNvSpPr/>
          <p:nvPr/>
        </p:nvSpPr>
        <p:spPr>
          <a:xfrm>
            <a:off x="457200" y="3657600"/>
            <a:ext cx="4937760" cy="91440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rad_v.png"/>
          <p:cNvPicPr>
            <a:picLocks noChangeAspect="1"/>
          </p:cNvPicPr>
          <p:nvPr/>
        </p:nvPicPr>
        <p:blipFill>
          <a:blip r:embed="rId2"/>
          <a:stretch>
            <a:fillRect/>
          </a:stretch>
        </p:blipFill>
        <p:spPr>
          <a:xfrm>
            <a:off x="457200" y="3730752"/>
            <a:ext cx="54864" cy="768096"/>
          </a:xfrm>
          <a:prstGeom prst="rect">
            <a:avLst/>
          </a:prstGeom>
        </p:spPr>
      </p:pic>
      <p:sp>
        <p:nvSpPr>
          <p:cNvPr id="14" name="TextBox 13"/>
          <p:cNvSpPr txBox="1"/>
          <p:nvPr/>
        </p:nvSpPr>
        <p:spPr>
          <a:xfrm>
            <a:off x="777240" y="3794760"/>
            <a:ext cx="4434840" cy="6858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ステータスごとに簡単フィルタ</a:t>
            </a:r>
          </a:p>
          <a:p>
            <a:pPr algn="l">
              <a:spcBef>
                <a:spcPts val="0"/>
              </a:spcBef>
              <a:spcAft>
                <a:spcPts val="400"/>
              </a:spcAft>
            </a:pPr>
            <a:r>
              <a:rPr sz="1100" b="0">
                <a:solidFill>
                  <a:srgbClr val="64748B"/>
                </a:solidFill>
                <a:latin typeface="Hiragino Sans"/>
                <a:ea typeface="Hiragino Sans"/>
              </a:rPr>
              <a:t>ワンクリックで切り替え、必要な記事をすぐに検索・管理</a:t>
            </a:r>
          </a:p>
        </p:txBody>
      </p:sp>
      <p:sp>
        <p:nvSpPr>
          <p:cNvPr id="15" name="Rounded Rectangle 14"/>
          <p:cNvSpPr/>
          <p:nvPr/>
        </p:nvSpPr>
        <p:spPr>
          <a:xfrm>
            <a:off x="457200" y="4709159"/>
            <a:ext cx="4937760" cy="91440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grad_v.png"/>
          <p:cNvPicPr>
            <a:picLocks noChangeAspect="1"/>
          </p:cNvPicPr>
          <p:nvPr/>
        </p:nvPicPr>
        <p:blipFill>
          <a:blip r:embed="rId2"/>
          <a:stretch>
            <a:fillRect/>
          </a:stretch>
        </p:blipFill>
        <p:spPr>
          <a:xfrm>
            <a:off x="457200" y="4782311"/>
            <a:ext cx="54864" cy="768096"/>
          </a:xfrm>
          <a:prstGeom prst="rect">
            <a:avLst/>
          </a:prstGeom>
        </p:spPr>
      </p:pic>
      <p:sp>
        <p:nvSpPr>
          <p:cNvPr id="17" name="TextBox 16"/>
          <p:cNvSpPr txBox="1"/>
          <p:nvPr/>
        </p:nvSpPr>
        <p:spPr>
          <a:xfrm>
            <a:off x="777240" y="4846320"/>
            <a:ext cx="4434840" cy="6858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リアルタイム生成状況を確認</a:t>
            </a:r>
          </a:p>
          <a:p>
            <a:pPr algn="l">
              <a:spcBef>
                <a:spcPts val="0"/>
              </a:spcBef>
              <a:spcAft>
                <a:spcPts val="400"/>
              </a:spcAft>
            </a:pPr>
            <a:r>
              <a:rPr sz="1100" b="0">
                <a:solidFill>
                  <a:srgbClr val="64748B"/>
                </a:solidFill>
                <a:latin typeface="Hiragino Sans"/>
                <a:ea typeface="Hiragino Sans"/>
              </a:rPr>
              <a:t>AI生成の進行状況をリアルタイムで確認。完了数や進捗を把握</a:t>
            </a:r>
          </a:p>
        </p:txBody>
      </p:sp>
      <p:sp>
        <p:nvSpPr>
          <p:cNvPr id="18" name="Rounded Rectangle 17"/>
          <p:cNvSpPr/>
          <p:nvPr/>
        </p:nvSpPr>
        <p:spPr>
          <a:xfrm>
            <a:off x="5623560" y="1554480"/>
            <a:ext cx="6035040" cy="44348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dashboard.png"/>
          <p:cNvPicPr>
            <a:picLocks noChangeAspect="1"/>
          </p:cNvPicPr>
          <p:nvPr/>
        </p:nvPicPr>
        <p:blipFill>
          <a:blip r:embed="rId3"/>
          <a:stretch>
            <a:fillRect/>
          </a:stretch>
        </p:blipFill>
        <p:spPr>
          <a:xfrm>
            <a:off x="5806440" y="1783080"/>
            <a:ext cx="5669280" cy="3193694"/>
          </a:xfrm>
          <a:prstGeom prst="rect">
            <a:avLst/>
          </a:prstGeom>
        </p:spPr>
      </p:pic>
      <p:pic>
        <p:nvPicPr>
          <p:cNvPr id="20" name="Picture 19" descr="grad_bar.png"/>
          <p:cNvPicPr>
            <a:picLocks noChangeAspect="1"/>
          </p:cNvPicPr>
          <p:nvPr/>
        </p:nvPicPr>
        <p:blipFill>
          <a:blip r:embed="rId4"/>
          <a:stretch>
            <a:fillRect/>
          </a:stretch>
        </p:blipFill>
        <p:spPr>
          <a:xfrm>
            <a:off x="0" y="0"/>
            <a:ext cx="12191695" cy="41148"/>
          </a:xfrm>
          <a:prstGeom prst="rect">
            <a:avLst/>
          </a:prstGeom>
        </p:spPr>
      </p:pic>
      <p:sp>
        <p:nvSpPr>
          <p:cNvPr id="21" name="TextBox 20"/>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22" name="TextBox 21"/>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自律型AIエージェント</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プロンプトは最小限に。「AIが主体的に動く」次の時代へ。</a:t>
            </a:r>
          </a:p>
        </p:txBody>
      </p:sp>
      <p:sp>
        <p:nvSpPr>
          <p:cNvPr id="5" name="Rounded Rectangle 4"/>
          <p:cNvSpPr/>
          <p:nvPr/>
        </p:nvSpPr>
        <p:spPr>
          <a:xfrm>
            <a:off x="914400" y="1737360"/>
            <a:ext cx="10332720" cy="402336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ad_v.png"/>
          <p:cNvPicPr>
            <a:picLocks noChangeAspect="1"/>
          </p:cNvPicPr>
          <p:nvPr/>
        </p:nvPicPr>
        <p:blipFill>
          <a:blip r:embed="rId2"/>
          <a:stretch>
            <a:fillRect/>
          </a:stretch>
        </p:blipFill>
        <p:spPr>
          <a:xfrm>
            <a:off x="914400" y="1810512"/>
            <a:ext cx="54864" cy="3877056"/>
          </a:xfrm>
          <a:prstGeom prst="rect">
            <a:avLst/>
          </a:prstGeom>
        </p:spPr>
      </p:pic>
      <p:pic>
        <p:nvPicPr>
          <p:cNvPr id="7" name="Picture 6" descr="blob2.png"/>
          <p:cNvPicPr>
            <a:picLocks noChangeAspect="1"/>
          </p:cNvPicPr>
          <p:nvPr/>
        </p:nvPicPr>
        <p:blipFill>
          <a:blip r:embed="rId3"/>
          <a:stretch>
            <a:fillRect/>
          </a:stretch>
        </p:blipFill>
        <p:spPr>
          <a:xfrm>
            <a:off x="8686800" y="2011680"/>
            <a:ext cx="2926080" cy="2926080"/>
          </a:xfrm>
          <a:prstGeom prst="rect">
            <a:avLst/>
          </a:prstGeom>
        </p:spPr>
      </p:pic>
      <p:sp>
        <p:nvSpPr>
          <p:cNvPr id="8" name="Rounded Rectangle 7"/>
          <p:cNvSpPr/>
          <p:nvPr/>
        </p:nvSpPr>
        <p:spPr>
          <a:xfrm>
            <a:off x="1371600" y="2103120"/>
            <a:ext cx="3291840" cy="347472"/>
          </a:xfrm>
          <a:prstGeom prst="roundRect">
            <a:avLst>
              <a:gd name="adj" fmla="val 50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8B5CF6"/>
                </a:solidFill>
                <a:latin typeface="Hiragino Sans"/>
                <a:ea typeface="Hiragino Sans"/>
              </a:rPr>
              <a:t>Business / Enterpriseプラン</a:t>
            </a:r>
          </a:p>
        </p:txBody>
      </p:sp>
      <p:sp>
        <p:nvSpPr>
          <p:cNvPr id="9" name="TextBox 8"/>
          <p:cNvSpPr txBox="1"/>
          <p:nvPr/>
        </p:nvSpPr>
        <p:spPr>
          <a:xfrm>
            <a:off x="1371600" y="2743200"/>
            <a:ext cx="8686800" cy="2560320"/>
          </a:xfrm>
          <a:prstGeom prst="rect">
            <a:avLst/>
          </a:prstGeom>
          <a:noFill/>
        </p:spPr>
        <p:txBody>
          <a:bodyPr wrap="square">
            <a:spAutoFit/>
          </a:bodyPr>
          <a:lstStyle/>
          <a:p>
            <a:pPr algn="l">
              <a:spcBef>
                <a:spcPts val="0"/>
              </a:spcBef>
              <a:spcAft>
                <a:spcPts val="400"/>
              </a:spcAft>
            </a:pPr>
            <a:r>
              <a:rPr sz="1700" b="1">
                <a:solidFill>
                  <a:srgbClr val="0F172A"/>
                </a:solidFill>
                <a:latin typeface="Hiragino Sans"/>
                <a:ea typeface="Hiragino Sans"/>
              </a:rPr>
              <a:t>AIが自律的にピラータイトル・本文、関連するクラスタータイトル・本文までを思考し、一連の流れを完全自動生成。</a:t>
            </a:r>
          </a:p>
          <a:p>
            <a:pPr algn="l">
              <a:spcBef>
                <a:spcPts val="0"/>
              </a:spcBef>
              <a:spcAft>
                <a:spcPts val="400"/>
              </a:spcAft>
            </a:pPr>
            <a:r>
              <a:rPr sz="1000" b="0">
                <a:solidFill>
                  <a:srgbClr val="0F172A"/>
                </a:solidFill>
                <a:latin typeface="Hiragino Sans"/>
                <a:ea typeface="Hiragino Sans"/>
              </a:rPr>
              <a:t/>
            </a:r>
          </a:p>
          <a:p>
            <a:pPr algn="l">
              <a:spcBef>
                <a:spcPts val="0"/>
              </a:spcBef>
              <a:spcAft>
                <a:spcPts val="400"/>
              </a:spcAft>
            </a:pPr>
            <a:r>
              <a:rPr sz="1500" b="0">
                <a:solidFill>
                  <a:srgbClr val="64748B"/>
                </a:solidFill>
                <a:latin typeface="Hiragino Sans"/>
                <a:ea typeface="Hiragino Sans"/>
              </a:rPr>
              <a:t>PCやブラウザを閉じている間も裏側でタスクが進行し、完了状況はメールやSMSでリアルタイムに通知されます。</a:t>
            </a:r>
          </a:p>
        </p:txBody>
      </p:sp>
      <p:pic>
        <p:nvPicPr>
          <p:cNvPr id="10" name="Picture 9" descr="grad_bar.png"/>
          <p:cNvPicPr>
            <a:picLocks noChangeAspect="1"/>
          </p:cNvPicPr>
          <p:nvPr/>
        </p:nvPicPr>
        <p:blipFill>
          <a:blip r:embed="rId4"/>
          <a:stretch>
            <a:fillRect/>
          </a:stretch>
        </p:blipFill>
        <p:spPr>
          <a:xfrm>
            <a:off x="0" y="0"/>
            <a:ext cx="12191695" cy="41148"/>
          </a:xfrm>
          <a:prstGeom prst="rect">
            <a:avLst/>
          </a:prstGeom>
        </p:spPr>
      </p:pic>
      <p:sp>
        <p:nvSpPr>
          <p:cNvPr id="11" name="TextBox 10"/>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12" name="TextBox 11"/>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料金プラン</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あなたのビジネスに最適なプランを。</a:t>
            </a:r>
          </a:p>
        </p:txBody>
      </p:sp>
      <p:sp>
        <p:nvSpPr>
          <p:cNvPr id="5" name="TextBox 4"/>
          <p:cNvSpPr txBox="1"/>
          <p:nvPr/>
        </p:nvSpPr>
        <p:spPr>
          <a:xfrm>
            <a:off x="594360" y="1216152"/>
            <a:ext cx="10972800" cy="36576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月額払い表記 ｜ 年額払いは20%お得</a:t>
            </a:r>
          </a:p>
        </p:txBody>
      </p:sp>
      <p:sp>
        <p:nvSpPr>
          <p:cNvPr id="6" name="Rounded Rectangle 5"/>
          <p:cNvSpPr/>
          <p:nvPr/>
        </p:nvSpPr>
        <p:spPr>
          <a:xfrm>
            <a:off x="411480" y="1463040"/>
            <a:ext cx="3703320" cy="46634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3246120" cy="411480"/>
          </a:xfrm>
          <a:prstGeom prst="rect">
            <a:avLst/>
          </a:prstGeom>
          <a:noFill/>
        </p:spPr>
        <p:txBody>
          <a:bodyPr wrap="square">
            <a:spAutoFit/>
          </a:bodyPr>
          <a:lstStyle/>
          <a:p>
            <a:pPr algn="ctr">
              <a:spcBef>
                <a:spcPts val="0"/>
              </a:spcBef>
              <a:spcAft>
                <a:spcPts val="400"/>
              </a:spcAft>
            </a:pPr>
            <a:r>
              <a:rPr sz="1700" b="1">
                <a:solidFill>
                  <a:srgbClr val="0F172A"/>
                </a:solidFill>
                <a:latin typeface="Hiragino Sans"/>
                <a:ea typeface="Hiragino Sans"/>
              </a:rPr>
              <a:t>トライアル</a:t>
            </a:r>
          </a:p>
        </p:txBody>
      </p:sp>
      <p:sp>
        <p:nvSpPr>
          <p:cNvPr id="8" name="TextBox 7"/>
          <p:cNvSpPr txBox="1"/>
          <p:nvPr/>
        </p:nvSpPr>
        <p:spPr>
          <a:xfrm>
            <a:off x="640080" y="2240280"/>
            <a:ext cx="3246120" cy="777240"/>
          </a:xfrm>
          <a:prstGeom prst="rect">
            <a:avLst/>
          </a:prstGeom>
          <a:noFill/>
        </p:spPr>
        <p:txBody>
          <a:bodyPr wrap="square">
            <a:spAutoFit/>
          </a:bodyPr>
          <a:lstStyle/>
          <a:p>
            <a:pPr algn="ctr">
              <a:spcBef>
                <a:spcPts val="0"/>
              </a:spcBef>
              <a:spcAft>
                <a:spcPts val="400"/>
              </a:spcAft>
            </a:pPr>
            <a:r>
              <a:rPr sz="2800" b="1">
                <a:solidFill>
                  <a:srgbClr val="0F172A"/>
                </a:solidFill>
                <a:latin typeface="Hiragino Sans"/>
                <a:ea typeface="Hiragino Sans"/>
              </a:rPr>
              <a:t>¥0</a:t>
            </a:r>
          </a:p>
          <a:p>
            <a:pPr algn="ctr">
              <a:spcBef>
                <a:spcPts val="0"/>
              </a:spcBef>
              <a:spcAft>
                <a:spcPts val="400"/>
              </a:spcAft>
            </a:pPr>
            <a:r>
              <a:rPr sz="1100" b="0">
                <a:solidFill>
                  <a:srgbClr val="64748B"/>
                </a:solidFill>
                <a:latin typeface="Hiragino Sans"/>
                <a:ea typeface="Hiragino Sans"/>
              </a:rPr>
              <a:t>/月  クレジットカード登録不要</a:t>
            </a:r>
          </a:p>
        </p:txBody>
      </p:sp>
      <p:sp>
        <p:nvSpPr>
          <p:cNvPr id="9" name="Rectangle 8"/>
          <p:cNvSpPr/>
          <p:nvPr/>
        </p:nvSpPr>
        <p:spPr>
          <a:xfrm>
            <a:off x="777240" y="3154680"/>
            <a:ext cx="29718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337560"/>
            <a:ext cx="3017520" cy="2286000"/>
          </a:xfrm>
          <a:prstGeom prst="rect">
            <a:avLst/>
          </a:prstGeom>
          <a:noFill/>
        </p:spPr>
        <p:txBody>
          <a:bodyPr wrap="square">
            <a:spAutoFit/>
          </a:bodyPr>
          <a:lstStyle/>
          <a:p>
            <a:pPr algn="l">
              <a:spcBef>
                <a:spcPts val="0"/>
              </a:spcBef>
              <a:spcAft>
                <a:spcPts val="400"/>
              </a:spcAft>
            </a:pPr>
            <a:r>
              <a:rPr sz="1100" b="0">
                <a:solidFill>
                  <a:srgbClr val="1E293B"/>
                </a:solidFill>
                <a:latin typeface="Hiragino Sans"/>
                <a:ea typeface="Hiragino Sans"/>
              </a:rPr>
              <a:t>・ 親記事 期間中1記事</a:t>
            </a:r>
          </a:p>
          <a:p>
            <a:pPr algn="l">
              <a:spcBef>
                <a:spcPts val="0"/>
              </a:spcBef>
              <a:spcAft>
                <a:spcPts val="400"/>
              </a:spcAft>
            </a:pPr>
            <a:r>
              <a:rPr sz="1100" b="0">
                <a:solidFill>
                  <a:srgbClr val="1E293B"/>
                </a:solidFill>
                <a:latin typeface="Hiragino Sans"/>
                <a:ea typeface="Hiragino Sans"/>
              </a:rPr>
              <a:t>・ 子記事 期間中3記事</a:t>
            </a:r>
          </a:p>
          <a:p>
            <a:pPr algn="l">
              <a:spcBef>
                <a:spcPts val="0"/>
              </a:spcBef>
              <a:spcAft>
                <a:spcPts val="400"/>
              </a:spcAft>
            </a:pPr>
            <a:r>
              <a:rPr sz="1100" b="0">
                <a:solidFill>
                  <a:srgbClr val="1E293B"/>
                </a:solidFill>
                <a:latin typeface="Hiragino Sans"/>
                <a:ea typeface="Hiragino Sans"/>
              </a:rPr>
              <a:t>・ AIタイトル提案 1回</a:t>
            </a:r>
          </a:p>
          <a:p>
            <a:pPr algn="l">
              <a:spcBef>
                <a:spcPts val="0"/>
              </a:spcBef>
              <a:spcAft>
                <a:spcPts val="400"/>
              </a:spcAft>
            </a:pPr>
            <a:r>
              <a:rPr sz="1100" b="0">
                <a:solidFill>
                  <a:srgbClr val="1E293B"/>
                </a:solidFill>
                <a:latin typeface="Hiragino Sans"/>
                <a:ea typeface="Hiragino Sans"/>
              </a:rPr>
              <a:t>・ 画像生成 5回</a:t>
            </a:r>
          </a:p>
          <a:p>
            <a:pPr algn="l">
              <a:spcBef>
                <a:spcPts val="0"/>
              </a:spcBef>
              <a:spcAft>
                <a:spcPts val="400"/>
              </a:spcAft>
            </a:pPr>
            <a:r>
              <a:rPr sz="1100" b="0">
                <a:solidFill>
                  <a:srgbClr val="1E293B"/>
                </a:solidFill>
                <a:latin typeface="Hiragino Sans"/>
                <a:ea typeface="Hiragino Sans"/>
              </a:rPr>
              <a:t>・ ジャンル 1個まで</a:t>
            </a:r>
          </a:p>
          <a:p>
            <a:pPr algn="l">
              <a:spcBef>
                <a:spcPts val="0"/>
              </a:spcBef>
              <a:spcAft>
                <a:spcPts val="400"/>
              </a:spcAft>
            </a:pPr>
            <a:r>
              <a:rPr sz="1100" b="0">
                <a:solidFill>
                  <a:srgbClr val="1E293B"/>
                </a:solidFill>
                <a:latin typeface="Hiragino Sans"/>
                <a:ea typeface="Hiragino Sans"/>
              </a:rPr>
              <a:t>・ 中分類なし</a:t>
            </a:r>
          </a:p>
          <a:p>
            <a:pPr algn="l">
              <a:spcBef>
                <a:spcPts val="0"/>
              </a:spcBef>
              <a:spcAft>
                <a:spcPts val="400"/>
              </a:spcAft>
            </a:pPr>
            <a:r>
              <a:rPr sz="1100" b="0">
                <a:solidFill>
                  <a:srgbClr val="1E293B"/>
                </a:solidFill>
                <a:latin typeface="Hiragino Sans"/>
                <a:ea typeface="Hiragino Sans"/>
              </a:rPr>
              <a:t>・ API利用不可</a:t>
            </a:r>
          </a:p>
        </p:txBody>
      </p:sp>
      <p:sp>
        <p:nvSpPr>
          <p:cNvPr id="11" name="Rounded Rectangle 10"/>
          <p:cNvSpPr/>
          <p:nvPr/>
        </p:nvSpPr>
        <p:spPr>
          <a:xfrm>
            <a:off x="777240" y="5486399"/>
            <a:ext cx="2971800" cy="384048"/>
          </a:xfrm>
          <a:prstGeom prst="roundRect">
            <a:avLst>
              <a:gd name="adj" fmla="val 5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1E293B"/>
                </a:solidFill>
                <a:latin typeface="Hiragino Sans"/>
                <a:ea typeface="Hiragino Sans"/>
              </a:rPr>
              <a:t>無料で始める →</a:t>
            </a:r>
          </a:p>
        </p:txBody>
      </p:sp>
      <p:sp>
        <p:nvSpPr>
          <p:cNvPr id="12" name="Rounded Rectangle 11"/>
          <p:cNvSpPr/>
          <p:nvPr/>
        </p:nvSpPr>
        <p:spPr>
          <a:xfrm>
            <a:off x="4297680" y="1463040"/>
            <a:ext cx="3703320" cy="46634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783080"/>
            <a:ext cx="3246120" cy="411480"/>
          </a:xfrm>
          <a:prstGeom prst="rect">
            <a:avLst/>
          </a:prstGeom>
          <a:noFill/>
        </p:spPr>
        <p:txBody>
          <a:bodyPr wrap="square">
            <a:spAutoFit/>
          </a:bodyPr>
          <a:lstStyle/>
          <a:p>
            <a:pPr algn="ctr">
              <a:spcBef>
                <a:spcPts val="0"/>
              </a:spcBef>
              <a:spcAft>
                <a:spcPts val="400"/>
              </a:spcAft>
            </a:pPr>
            <a:r>
              <a:rPr sz="1700" b="1">
                <a:solidFill>
                  <a:srgbClr val="0F172A"/>
                </a:solidFill>
                <a:latin typeface="Hiragino Sans"/>
                <a:ea typeface="Hiragino Sans"/>
              </a:rPr>
              <a:t>スターター</a:t>
            </a:r>
          </a:p>
        </p:txBody>
      </p:sp>
      <p:sp>
        <p:nvSpPr>
          <p:cNvPr id="14" name="TextBox 13"/>
          <p:cNvSpPr txBox="1"/>
          <p:nvPr/>
        </p:nvSpPr>
        <p:spPr>
          <a:xfrm>
            <a:off x="4526280" y="2240280"/>
            <a:ext cx="3246120" cy="777240"/>
          </a:xfrm>
          <a:prstGeom prst="rect">
            <a:avLst/>
          </a:prstGeom>
          <a:noFill/>
        </p:spPr>
        <p:txBody>
          <a:bodyPr wrap="square">
            <a:spAutoFit/>
          </a:bodyPr>
          <a:lstStyle/>
          <a:p>
            <a:pPr algn="ctr">
              <a:spcBef>
                <a:spcPts val="0"/>
              </a:spcBef>
              <a:spcAft>
                <a:spcPts val="400"/>
              </a:spcAft>
            </a:pPr>
            <a:r>
              <a:rPr sz="2800" b="1">
                <a:solidFill>
                  <a:srgbClr val="3B82F6"/>
                </a:solidFill>
                <a:latin typeface="Hiragino Sans"/>
                <a:ea typeface="Hiragino Sans"/>
              </a:rPr>
              <a:t>¥29,800</a:t>
            </a:r>
          </a:p>
          <a:p>
            <a:pPr algn="ctr">
              <a:spcBef>
                <a:spcPts val="0"/>
              </a:spcBef>
              <a:spcAft>
                <a:spcPts val="400"/>
              </a:spcAft>
            </a:pPr>
            <a:r>
              <a:rPr sz="1100" b="0">
                <a:solidFill>
                  <a:srgbClr val="64748B"/>
                </a:solidFill>
                <a:latin typeface="Hiragino Sans"/>
                <a:ea typeface="Hiragino Sans"/>
              </a:rPr>
              <a:t>/月  個人・小規模サイト向け</a:t>
            </a:r>
          </a:p>
        </p:txBody>
      </p:sp>
      <p:sp>
        <p:nvSpPr>
          <p:cNvPr id="15" name="Rectangle 14"/>
          <p:cNvSpPr/>
          <p:nvPr/>
        </p:nvSpPr>
        <p:spPr>
          <a:xfrm>
            <a:off x="4663440" y="3154680"/>
            <a:ext cx="29718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337560"/>
            <a:ext cx="3017520" cy="2286000"/>
          </a:xfrm>
          <a:prstGeom prst="rect">
            <a:avLst/>
          </a:prstGeom>
          <a:noFill/>
        </p:spPr>
        <p:txBody>
          <a:bodyPr wrap="square">
            <a:spAutoFit/>
          </a:bodyPr>
          <a:lstStyle/>
          <a:p>
            <a:pPr algn="l">
              <a:spcBef>
                <a:spcPts val="0"/>
              </a:spcBef>
              <a:spcAft>
                <a:spcPts val="400"/>
              </a:spcAft>
            </a:pPr>
            <a:r>
              <a:rPr sz="1100" b="0">
                <a:solidFill>
                  <a:srgbClr val="1E293B"/>
                </a:solidFill>
                <a:latin typeface="Hiragino Sans"/>
                <a:ea typeface="Hiragino Sans"/>
              </a:rPr>
              <a:t>・ 親記事 月3記事</a:t>
            </a:r>
          </a:p>
          <a:p>
            <a:pPr algn="l">
              <a:spcBef>
                <a:spcPts val="0"/>
              </a:spcBef>
              <a:spcAft>
                <a:spcPts val="400"/>
              </a:spcAft>
            </a:pPr>
            <a:r>
              <a:rPr sz="1100" b="0">
                <a:solidFill>
                  <a:srgbClr val="1E293B"/>
                </a:solidFill>
                <a:latin typeface="Hiragino Sans"/>
                <a:ea typeface="Hiragino Sans"/>
              </a:rPr>
              <a:t>・ 子記事 月45記事</a:t>
            </a:r>
          </a:p>
          <a:p>
            <a:pPr algn="l">
              <a:spcBef>
                <a:spcPts val="0"/>
              </a:spcBef>
              <a:spcAft>
                <a:spcPts val="400"/>
              </a:spcAft>
            </a:pPr>
            <a:r>
              <a:rPr sz="1100" b="0">
                <a:solidFill>
                  <a:srgbClr val="1E293B"/>
                </a:solidFill>
                <a:latin typeface="Hiragino Sans"/>
                <a:ea typeface="Hiragino Sans"/>
              </a:rPr>
              <a:t>・ AIタイトル提案 3回</a:t>
            </a:r>
          </a:p>
          <a:p>
            <a:pPr algn="l">
              <a:spcBef>
                <a:spcPts val="0"/>
              </a:spcBef>
              <a:spcAft>
                <a:spcPts val="400"/>
              </a:spcAft>
            </a:pPr>
            <a:r>
              <a:rPr sz="1100" b="0">
                <a:solidFill>
                  <a:srgbClr val="1E293B"/>
                </a:solidFill>
                <a:latin typeface="Hiragino Sans"/>
                <a:ea typeface="Hiragino Sans"/>
              </a:rPr>
              <a:t>・ 画像生成 60回</a:t>
            </a:r>
          </a:p>
          <a:p>
            <a:pPr algn="l">
              <a:spcBef>
                <a:spcPts val="0"/>
              </a:spcBef>
              <a:spcAft>
                <a:spcPts val="400"/>
              </a:spcAft>
            </a:pPr>
            <a:r>
              <a:rPr sz="1100" b="0">
                <a:solidFill>
                  <a:srgbClr val="1E293B"/>
                </a:solidFill>
                <a:latin typeface="Hiragino Sans"/>
                <a:ea typeface="Hiragino Sans"/>
              </a:rPr>
              <a:t>・ ジャンル 1個まで</a:t>
            </a:r>
          </a:p>
          <a:p>
            <a:pPr algn="l">
              <a:spcBef>
                <a:spcPts val="0"/>
              </a:spcBef>
              <a:spcAft>
                <a:spcPts val="400"/>
              </a:spcAft>
            </a:pPr>
            <a:r>
              <a:rPr sz="1100" b="0">
                <a:solidFill>
                  <a:srgbClr val="1E293B"/>
                </a:solidFill>
                <a:latin typeface="Hiragino Sans"/>
                <a:ea typeface="Hiragino Sans"/>
              </a:rPr>
              <a:t>・ 中分類なし</a:t>
            </a:r>
          </a:p>
          <a:p>
            <a:pPr algn="l">
              <a:spcBef>
                <a:spcPts val="0"/>
              </a:spcBef>
              <a:spcAft>
                <a:spcPts val="400"/>
              </a:spcAft>
            </a:pPr>
            <a:r>
              <a:rPr sz="1100" b="0">
                <a:solidFill>
                  <a:srgbClr val="1E293B"/>
                </a:solidFill>
                <a:latin typeface="Hiragino Sans"/>
                <a:ea typeface="Hiragino Sans"/>
              </a:rPr>
              <a:t>・ API利用可</a:t>
            </a:r>
          </a:p>
        </p:txBody>
      </p:sp>
      <p:sp>
        <p:nvSpPr>
          <p:cNvPr id="17" name="Rounded Rectangle 16"/>
          <p:cNvSpPr/>
          <p:nvPr/>
        </p:nvSpPr>
        <p:spPr>
          <a:xfrm>
            <a:off x="4663440" y="5486399"/>
            <a:ext cx="2971800" cy="384048"/>
          </a:xfrm>
          <a:prstGeom prst="roundRect">
            <a:avLst>
              <a:gd name="adj" fmla="val 50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Hiragino Sans"/>
                <a:ea typeface="Hiragino Sans"/>
              </a:rPr>
              <a:t>このプランで始める →</a:t>
            </a:r>
          </a:p>
        </p:txBody>
      </p:sp>
      <p:sp>
        <p:nvSpPr>
          <p:cNvPr id="18" name="Rounded Rectangle 17"/>
          <p:cNvSpPr/>
          <p:nvPr/>
        </p:nvSpPr>
        <p:spPr>
          <a:xfrm>
            <a:off x="8183879" y="1325880"/>
            <a:ext cx="3703320" cy="489204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grad_v.png"/>
          <p:cNvPicPr>
            <a:picLocks noChangeAspect="1"/>
          </p:cNvPicPr>
          <p:nvPr/>
        </p:nvPicPr>
        <p:blipFill>
          <a:blip r:embed="rId2"/>
          <a:stretch>
            <a:fillRect/>
          </a:stretch>
        </p:blipFill>
        <p:spPr>
          <a:xfrm>
            <a:off x="8183879" y="1399032"/>
            <a:ext cx="54864" cy="4745736"/>
          </a:xfrm>
          <a:prstGeom prst="rect">
            <a:avLst/>
          </a:prstGeom>
        </p:spPr>
      </p:pic>
      <p:sp>
        <p:nvSpPr>
          <p:cNvPr id="20" name="Rounded Rectangle 19"/>
          <p:cNvSpPr/>
          <p:nvPr/>
        </p:nvSpPr>
        <p:spPr>
          <a:xfrm>
            <a:off x="9144000" y="1188720"/>
            <a:ext cx="1783080" cy="292608"/>
          </a:xfrm>
          <a:prstGeom prst="roundRect">
            <a:avLst>
              <a:gd name="adj" fmla="val 50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Hiragino Sans"/>
                <a:ea typeface="Hiragino Sans"/>
              </a:rPr>
              <a:t>人気 No.1</a:t>
            </a:r>
          </a:p>
        </p:txBody>
      </p:sp>
      <p:sp>
        <p:nvSpPr>
          <p:cNvPr id="21" name="TextBox 20"/>
          <p:cNvSpPr txBox="1"/>
          <p:nvPr/>
        </p:nvSpPr>
        <p:spPr>
          <a:xfrm>
            <a:off x="8412480" y="1645919"/>
            <a:ext cx="3246120" cy="411480"/>
          </a:xfrm>
          <a:prstGeom prst="rect">
            <a:avLst/>
          </a:prstGeom>
          <a:noFill/>
        </p:spPr>
        <p:txBody>
          <a:bodyPr wrap="square">
            <a:spAutoFit/>
          </a:bodyPr>
          <a:lstStyle/>
          <a:p>
            <a:pPr algn="ctr">
              <a:spcBef>
                <a:spcPts val="0"/>
              </a:spcBef>
              <a:spcAft>
                <a:spcPts val="400"/>
              </a:spcAft>
            </a:pPr>
            <a:r>
              <a:rPr sz="1700" b="1">
                <a:solidFill>
                  <a:srgbClr val="0F172A"/>
                </a:solidFill>
                <a:latin typeface="Hiragino Sans"/>
                <a:ea typeface="Hiragino Sans"/>
              </a:rPr>
              <a:t>スタンダード</a:t>
            </a:r>
          </a:p>
        </p:txBody>
      </p:sp>
      <p:sp>
        <p:nvSpPr>
          <p:cNvPr id="22" name="TextBox 21"/>
          <p:cNvSpPr txBox="1"/>
          <p:nvPr/>
        </p:nvSpPr>
        <p:spPr>
          <a:xfrm>
            <a:off x="8412480" y="2103120"/>
            <a:ext cx="3246120" cy="777240"/>
          </a:xfrm>
          <a:prstGeom prst="rect">
            <a:avLst/>
          </a:prstGeom>
          <a:noFill/>
        </p:spPr>
        <p:txBody>
          <a:bodyPr wrap="square">
            <a:spAutoFit/>
          </a:bodyPr>
          <a:lstStyle/>
          <a:p>
            <a:pPr algn="ctr">
              <a:spcBef>
                <a:spcPts val="0"/>
              </a:spcBef>
              <a:spcAft>
                <a:spcPts val="400"/>
              </a:spcAft>
            </a:pPr>
            <a:r>
              <a:rPr sz="2800" b="1">
                <a:solidFill>
                  <a:srgbClr val="4F46E5"/>
                </a:solidFill>
                <a:latin typeface="Hiragino Sans"/>
                <a:ea typeface="Hiragino Sans"/>
              </a:rPr>
              <a:t>¥49,800</a:t>
            </a:r>
          </a:p>
          <a:p>
            <a:pPr algn="ctr">
              <a:spcBef>
                <a:spcPts val="0"/>
              </a:spcBef>
              <a:spcAft>
                <a:spcPts val="400"/>
              </a:spcAft>
            </a:pPr>
            <a:r>
              <a:rPr sz="1100" b="0">
                <a:solidFill>
                  <a:srgbClr val="64748B"/>
                </a:solidFill>
                <a:latin typeface="Hiragino Sans"/>
                <a:ea typeface="Hiragino Sans"/>
              </a:rPr>
              <a:t>/月  本格メディア運用向け</a:t>
            </a:r>
          </a:p>
        </p:txBody>
      </p:sp>
      <p:sp>
        <p:nvSpPr>
          <p:cNvPr id="23" name="Rectangle 22"/>
          <p:cNvSpPr/>
          <p:nvPr/>
        </p:nvSpPr>
        <p:spPr>
          <a:xfrm>
            <a:off x="8549640" y="3017520"/>
            <a:ext cx="29718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49640" y="3200400"/>
            <a:ext cx="3017520" cy="2286000"/>
          </a:xfrm>
          <a:prstGeom prst="rect">
            <a:avLst/>
          </a:prstGeom>
          <a:noFill/>
        </p:spPr>
        <p:txBody>
          <a:bodyPr wrap="square">
            <a:spAutoFit/>
          </a:bodyPr>
          <a:lstStyle/>
          <a:p>
            <a:pPr algn="l">
              <a:spcBef>
                <a:spcPts val="0"/>
              </a:spcBef>
              <a:spcAft>
                <a:spcPts val="400"/>
              </a:spcAft>
            </a:pPr>
            <a:r>
              <a:rPr sz="1100" b="0">
                <a:solidFill>
                  <a:srgbClr val="1E293B"/>
                </a:solidFill>
                <a:latin typeface="Hiragino Sans"/>
                <a:ea typeface="Hiragino Sans"/>
              </a:rPr>
              <a:t>・ 親記事 月5記事</a:t>
            </a:r>
          </a:p>
          <a:p>
            <a:pPr algn="l">
              <a:spcBef>
                <a:spcPts val="0"/>
              </a:spcBef>
              <a:spcAft>
                <a:spcPts val="400"/>
              </a:spcAft>
            </a:pPr>
            <a:r>
              <a:rPr sz="1100" b="0">
                <a:solidFill>
                  <a:srgbClr val="1E293B"/>
                </a:solidFill>
                <a:latin typeface="Hiragino Sans"/>
                <a:ea typeface="Hiragino Sans"/>
              </a:rPr>
              <a:t>・ 子記事 月75記事</a:t>
            </a:r>
          </a:p>
          <a:p>
            <a:pPr algn="l">
              <a:spcBef>
                <a:spcPts val="0"/>
              </a:spcBef>
              <a:spcAft>
                <a:spcPts val="400"/>
              </a:spcAft>
            </a:pPr>
            <a:r>
              <a:rPr sz="1100" b="0">
                <a:solidFill>
                  <a:srgbClr val="1E293B"/>
                </a:solidFill>
                <a:latin typeface="Hiragino Sans"/>
                <a:ea typeface="Hiragino Sans"/>
              </a:rPr>
              <a:t>・ AIタイトル提案 5回</a:t>
            </a:r>
          </a:p>
          <a:p>
            <a:pPr algn="l">
              <a:spcBef>
                <a:spcPts val="0"/>
              </a:spcBef>
              <a:spcAft>
                <a:spcPts val="400"/>
              </a:spcAft>
            </a:pPr>
            <a:r>
              <a:rPr sz="1100" b="0">
                <a:solidFill>
                  <a:srgbClr val="1E293B"/>
                </a:solidFill>
                <a:latin typeface="Hiragino Sans"/>
                <a:ea typeface="Hiragino Sans"/>
              </a:rPr>
              <a:t>・ 画像生成 125回</a:t>
            </a:r>
          </a:p>
          <a:p>
            <a:pPr algn="l">
              <a:spcBef>
                <a:spcPts val="0"/>
              </a:spcBef>
              <a:spcAft>
                <a:spcPts val="400"/>
              </a:spcAft>
            </a:pPr>
            <a:r>
              <a:rPr sz="1100" b="0">
                <a:solidFill>
                  <a:srgbClr val="1E293B"/>
                </a:solidFill>
                <a:latin typeface="Hiragino Sans"/>
                <a:ea typeface="Hiragino Sans"/>
              </a:rPr>
              <a:t>・ ジャンル 3個まで</a:t>
            </a:r>
          </a:p>
          <a:p>
            <a:pPr algn="l">
              <a:spcBef>
                <a:spcPts val="0"/>
              </a:spcBef>
              <a:spcAft>
                <a:spcPts val="400"/>
              </a:spcAft>
            </a:pPr>
            <a:r>
              <a:rPr sz="1100" b="0">
                <a:solidFill>
                  <a:srgbClr val="1E293B"/>
                </a:solidFill>
                <a:latin typeface="Hiragino Sans"/>
                <a:ea typeface="Hiragino Sans"/>
              </a:rPr>
              <a:t>・ 中分類 3件まで</a:t>
            </a:r>
          </a:p>
          <a:p>
            <a:pPr algn="l">
              <a:spcBef>
                <a:spcPts val="0"/>
              </a:spcBef>
              <a:spcAft>
                <a:spcPts val="400"/>
              </a:spcAft>
            </a:pPr>
            <a:r>
              <a:rPr sz="1100" b="0">
                <a:solidFill>
                  <a:srgbClr val="1E293B"/>
                </a:solidFill>
                <a:latin typeface="Hiragino Sans"/>
                <a:ea typeface="Hiragino Sans"/>
              </a:rPr>
              <a:t>・ API利用可</a:t>
            </a:r>
          </a:p>
        </p:txBody>
      </p:sp>
      <p:pic>
        <p:nvPicPr>
          <p:cNvPr id="25" name="Picture 24" descr="btn_wide.png"/>
          <p:cNvPicPr>
            <a:picLocks noChangeAspect="1"/>
          </p:cNvPicPr>
          <p:nvPr/>
        </p:nvPicPr>
        <p:blipFill>
          <a:blip r:embed="rId3"/>
          <a:stretch>
            <a:fillRect/>
          </a:stretch>
        </p:blipFill>
        <p:spPr>
          <a:xfrm>
            <a:off x="8412480" y="5440680"/>
            <a:ext cx="3246120" cy="594360"/>
          </a:xfrm>
          <a:prstGeom prst="rect">
            <a:avLst/>
          </a:prstGeom>
        </p:spPr>
      </p:pic>
      <p:sp>
        <p:nvSpPr>
          <p:cNvPr id="26" name="TextBox 25"/>
          <p:cNvSpPr txBox="1"/>
          <p:nvPr/>
        </p:nvSpPr>
        <p:spPr>
          <a:xfrm>
            <a:off x="8412480" y="5513832"/>
            <a:ext cx="3246120" cy="484632"/>
          </a:xfrm>
          <a:prstGeom prst="rect">
            <a:avLst/>
          </a:prstGeom>
          <a:noFill/>
        </p:spPr>
        <p:txBody>
          <a:bodyPr wrap="none">
            <a:spAutoFit/>
          </a:bodyPr>
          <a:lstStyle/>
          <a:p>
            <a:pPr algn="ctr"/>
            <a:r>
              <a:rPr sz="1200" b="1">
                <a:solidFill>
                  <a:srgbClr val="FFFFFF"/>
                </a:solidFill>
                <a:latin typeface="Hiragino Sans"/>
                <a:ea typeface="Hiragino Sans"/>
              </a:rPr>
              <a:t>このプランで始める →</a:t>
            </a:r>
          </a:p>
        </p:txBody>
      </p:sp>
      <p:pic>
        <p:nvPicPr>
          <p:cNvPr id="27" name="Picture 26" descr="grad_bar.png"/>
          <p:cNvPicPr>
            <a:picLocks noChangeAspect="1"/>
          </p:cNvPicPr>
          <p:nvPr/>
        </p:nvPicPr>
        <p:blipFill>
          <a:blip r:embed="rId4"/>
          <a:stretch>
            <a:fillRect/>
          </a:stretch>
        </p:blipFill>
        <p:spPr>
          <a:xfrm>
            <a:off x="0" y="0"/>
            <a:ext cx="12191695" cy="41148"/>
          </a:xfrm>
          <a:prstGeom prst="rect">
            <a:avLst/>
          </a:prstGeom>
        </p:spPr>
      </p:pic>
      <p:sp>
        <p:nvSpPr>
          <p:cNvPr id="28" name="TextBox 27"/>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29" name="TextBox 28"/>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料金プラン（続き）</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チーム・大規模運用向けプラン</a:t>
            </a:r>
          </a:p>
        </p:txBody>
      </p:sp>
      <p:sp>
        <p:nvSpPr>
          <p:cNvPr id="5" name="Rounded Rectangle 4"/>
          <p:cNvSpPr/>
          <p:nvPr/>
        </p:nvSpPr>
        <p:spPr>
          <a:xfrm>
            <a:off x="1188720" y="1417320"/>
            <a:ext cx="4754880" cy="475488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ad_v.png"/>
          <p:cNvPicPr>
            <a:picLocks noChangeAspect="1"/>
          </p:cNvPicPr>
          <p:nvPr/>
        </p:nvPicPr>
        <p:blipFill>
          <a:blip r:embed="rId2"/>
          <a:stretch>
            <a:fillRect/>
          </a:stretch>
        </p:blipFill>
        <p:spPr>
          <a:xfrm>
            <a:off x="1188720" y="1490472"/>
            <a:ext cx="54864" cy="4608576"/>
          </a:xfrm>
          <a:prstGeom prst="rect">
            <a:avLst/>
          </a:prstGeom>
        </p:spPr>
      </p:pic>
      <p:sp>
        <p:nvSpPr>
          <p:cNvPr id="7" name="Rounded Rectangle 6"/>
          <p:cNvSpPr/>
          <p:nvPr/>
        </p:nvSpPr>
        <p:spPr>
          <a:xfrm>
            <a:off x="2743200" y="1280160"/>
            <a:ext cx="1645920" cy="292608"/>
          </a:xfrm>
          <a:prstGeom prst="roundRect">
            <a:avLst>
              <a:gd name="adj" fmla="val 5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Hiragino Sans"/>
                <a:ea typeface="Hiragino Sans"/>
              </a:rPr>
              <a:t>イチオシ</a:t>
            </a:r>
          </a:p>
        </p:txBody>
      </p:sp>
      <p:sp>
        <p:nvSpPr>
          <p:cNvPr id="8" name="TextBox 7"/>
          <p:cNvSpPr txBox="1"/>
          <p:nvPr/>
        </p:nvSpPr>
        <p:spPr>
          <a:xfrm>
            <a:off x="1508760" y="1783080"/>
            <a:ext cx="4114800" cy="1097280"/>
          </a:xfrm>
          <a:prstGeom prst="rect">
            <a:avLst/>
          </a:prstGeom>
          <a:noFill/>
        </p:spPr>
        <p:txBody>
          <a:bodyPr wrap="square">
            <a:spAutoFit/>
          </a:bodyPr>
          <a:lstStyle/>
          <a:p>
            <a:pPr algn="ctr">
              <a:spcBef>
                <a:spcPts val="0"/>
              </a:spcBef>
              <a:spcAft>
                <a:spcPts val="400"/>
              </a:spcAft>
            </a:pPr>
            <a:r>
              <a:rPr sz="2000" b="1">
                <a:solidFill>
                  <a:srgbClr val="0F172A"/>
                </a:solidFill>
                <a:latin typeface="Hiragino Sans"/>
                <a:ea typeface="Hiragino Sans"/>
              </a:rPr>
              <a:t>ビジネス</a:t>
            </a:r>
          </a:p>
          <a:p>
            <a:pPr algn="ctr">
              <a:spcBef>
                <a:spcPts val="0"/>
              </a:spcBef>
              <a:spcAft>
                <a:spcPts val="400"/>
              </a:spcAft>
            </a:pPr>
            <a:r>
              <a:rPr sz="3000" b="1">
                <a:solidFill>
                  <a:srgbClr val="8B5CF6"/>
                </a:solidFill>
                <a:latin typeface="Hiragino Sans"/>
                <a:ea typeface="Hiragino Sans"/>
              </a:rPr>
              <a:t>¥98,000/月</a:t>
            </a:r>
          </a:p>
          <a:p>
            <a:pPr algn="ctr">
              <a:spcBef>
                <a:spcPts val="0"/>
              </a:spcBef>
              <a:spcAft>
                <a:spcPts val="400"/>
              </a:spcAft>
            </a:pPr>
            <a:r>
              <a:rPr sz="1200" b="0">
                <a:solidFill>
                  <a:srgbClr val="64748B"/>
                </a:solidFill>
                <a:latin typeface="Hiragino Sans"/>
                <a:ea typeface="Hiragino Sans"/>
              </a:rPr>
              <a:t>複数メディア・チーム利用に最適</a:t>
            </a:r>
          </a:p>
        </p:txBody>
      </p:sp>
      <p:sp>
        <p:nvSpPr>
          <p:cNvPr id="9" name="Rectangle 8"/>
          <p:cNvSpPr/>
          <p:nvPr/>
        </p:nvSpPr>
        <p:spPr>
          <a:xfrm>
            <a:off x="1645920" y="3017520"/>
            <a:ext cx="384048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91640" y="3200400"/>
            <a:ext cx="3840480" cy="2194560"/>
          </a:xfrm>
          <a:prstGeom prst="rect">
            <a:avLst/>
          </a:prstGeom>
          <a:noFill/>
        </p:spPr>
        <p:txBody>
          <a:bodyPr wrap="square">
            <a:spAutoFit/>
          </a:bodyPr>
          <a:lstStyle/>
          <a:p>
            <a:pPr algn="l">
              <a:spcBef>
                <a:spcPts val="0"/>
              </a:spcBef>
              <a:spcAft>
                <a:spcPts val="400"/>
              </a:spcAft>
            </a:pPr>
            <a:r>
              <a:rPr sz="1200" b="0">
                <a:solidFill>
                  <a:srgbClr val="1E293B"/>
                </a:solidFill>
                <a:latin typeface="Hiragino Sans"/>
                <a:ea typeface="Hiragino Sans"/>
              </a:rPr>
              <a:t>・ 親記事 月15記事</a:t>
            </a:r>
          </a:p>
          <a:p>
            <a:pPr algn="l">
              <a:spcBef>
                <a:spcPts val="0"/>
              </a:spcBef>
              <a:spcAft>
                <a:spcPts val="400"/>
              </a:spcAft>
            </a:pPr>
            <a:r>
              <a:rPr sz="1200" b="0">
                <a:solidFill>
                  <a:srgbClr val="1E293B"/>
                </a:solidFill>
                <a:latin typeface="Hiragino Sans"/>
                <a:ea typeface="Hiragino Sans"/>
              </a:rPr>
              <a:t>・ 子記事 月225記事</a:t>
            </a:r>
          </a:p>
          <a:p>
            <a:pPr algn="l">
              <a:spcBef>
                <a:spcPts val="0"/>
              </a:spcBef>
              <a:spcAft>
                <a:spcPts val="400"/>
              </a:spcAft>
            </a:pPr>
            <a:r>
              <a:rPr sz="1200" b="0">
                <a:solidFill>
                  <a:srgbClr val="1E293B"/>
                </a:solidFill>
                <a:latin typeface="Hiragino Sans"/>
                <a:ea typeface="Hiragino Sans"/>
              </a:rPr>
              <a:t>・ AIタイトル提案 30回</a:t>
            </a:r>
          </a:p>
          <a:p>
            <a:pPr algn="l">
              <a:spcBef>
                <a:spcPts val="0"/>
              </a:spcBef>
              <a:spcAft>
                <a:spcPts val="400"/>
              </a:spcAft>
            </a:pPr>
            <a:r>
              <a:rPr sz="1200" b="0">
                <a:solidFill>
                  <a:srgbClr val="1E293B"/>
                </a:solidFill>
                <a:latin typeface="Hiragino Sans"/>
                <a:ea typeface="Hiragino Sans"/>
              </a:rPr>
              <a:t>・ 画像生成 250回</a:t>
            </a:r>
          </a:p>
          <a:p>
            <a:pPr algn="l">
              <a:spcBef>
                <a:spcPts val="0"/>
              </a:spcBef>
              <a:spcAft>
                <a:spcPts val="400"/>
              </a:spcAft>
            </a:pPr>
            <a:r>
              <a:rPr sz="1200" b="0">
                <a:solidFill>
                  <a:srgbClr val="1E293B"/>
                </a:solidFill>
                <a:latin typeface="Hiragino Sans"/>
                <a:ea typeface="Hiragino Sans"/>
              </a:rPr>
              <a:t>・ ジャンル 10個まで</a:t>
            </a:r>
          </a:p>
          <a:p>
            <a:pPr algn="l">
              <a:spcBef>
                <a:spcPts val="0"/>
              </a:spcBef>
              <a:spcAft>
                <a:spcPts val="400"/>
              </a:spcAft>
            </a:pPr>
            <a:r>
              <a:rPr sz="1200" b="0">
                <a:solidFill>
                  <a:srgbClr val="1E293B"/>
                </a:solidFill>
                <a:latin typeface="Hiragino Sans"/>
                <a:ea typeface="Hiragino Sans"/>
              </a:rPr>
              <a:t>・ 中分類 10件まで</a:t>
            </a:r>
          </a:p>
          <a:p>
            <a:pPr algn="l">
              <a:spcBef>
                <a:spcPts val="0"/>
              </a:spcBef>
              <a:spcAft>
                <a:spcPts val="400"/>
              </a:spcAft>
            </a:pPr>
            <a:r>
              <a:rPr sz="1200" b="0">
                <a:solidFill>
                  <a:srgbClr val="1E293B"/>
                </a:solidFill>
                <a:latin typeface="Hiragino Sans"/>
                <a:ea typeface="Hiragino Sans"/>
              </a:rPr>
              <a:t>・ API利用可</a:t>
            </a:r>
          </a:p>
          <a:p>
            <a:pPr algn="l">
              <a:spcBef>
                <a:spcPts val="0"/>
              </a:spcBef>
              <a:spcAft>
                <a:spcPts val="400"/>
              </a:spcAft>
            </a:pPr>
            <a:r>
              <a:rPr sz="1200" b="0">
                <a:solidFill>
                  <a:srgbClr val="1E293B"/>
                </a:solidFill>
                <a:latin typeface="Hiragino Sans"/>
                <a:ea typeface="Hiragino Sans"/>
              </a:rPr>
              <a:t>・ AI主導生成（自律型エージェント）</a:t>
            </a:r>
          </a:p>
        </p:txBody>
      </p:sp>
      <p:sp>
        <p:nvSpPr>
          <p:cNvPr id="11" name="Rounded Rectangle 10"/>
          <p:cNvSpPr/>
          <p:nvPr/>
        </p:nvSpPr>
        <p:spPr>
          <a:xfrm>
            <a:off x="1828800" y="5623560"/>
            <a:ext cx="3474720" cy="384048"/>
          </a:xfrm>
          <a:prstGeom prst="roundRect">
            <a:avLst>
              <a:gd name="adj" fmla="val 5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Hiragino Sans"/>
                <a:ea typeface="Hiragino Sans"/>
              </a:rPr>
              <a:t>このプランで始める →</a:t>
            </a:r>
          </a:p>
        </p:txBody>
      </p:sp>
      <p:sp>
        <p:nvSpPr>
          <p:cNvPr id="12" name="Rounded Rectangle 11"/>
          <p:cNvSpPr/>
          <p:nvPr/>
        </p:nvSpPr>
        <p:spPr>
          <a:xfrm>
            <a:off x="6217920" y="1417320"/>
            <a:ext cx="4754880" cy="475488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1783080"/>
            <a:ext cx="4114800" cy="1097280"/>
          </a:xfrm>
          <a:prstGeom prst="rect">
            <a:avLst/>
          </a:prstGeom>
          <a:noFill/>
        </p:spPr>
        <p:txBody>
          <a:bodyPr wrap="square">
            <a:spAutoFit/>
          </a:bodyPr>
          <a:lstStyle/>
          <a:p>
            <a:pPr algn="ctr">
              <a:spcBef>
                <a:spcPts val="0"/>
              </a:spcBef>
              <a:spcAft>
                <a:spcPts val="400"/>
              </a:spcAft>
            </a:pPr>
            <a:r>
              <a:rPr sz="2000" b="1">
                <a:solidFill>
                  <a:srgbClr val="0F172A"/>
                </a:solidFill>
                <a:latin typeface="Hiragino Sans"/>
                <a:ea typeface="Hiragino Sans"/>
              </a:rPr>
              <a:t>エンタープライズ</a:t>
            </a:r>
          </a:p>
          <a:p>
            <a:pPr algn="ctr">
              <a:spcBef>
                <a:spcPts val="0"/>
              </a:spcBef>
              <a:spcAft>
                <a:spcPts val="400"/>
              </a:spcAft>
            </a:pPr>
            <a:r>
              <a:rPr sz="3000" b="1">
                <a:solidFill>
                  <a:srgbClr val="1E293B"/>
                </a:solidFill>
                <a:latin typeface="Hiragino Sans"/>
                <a:ea typeface="Hiragino Sans"/>
              </a:rPr>
              <a:t>¥198,000/月</a:t>
            </a:r>
          </a:p>
          <a:p>
            <a:pPr algn="ctr">
              <a:spcBef>
                <a:spcPts val="0"/>
              </a:spcBef>
              <a:spcAft>
                <a:spcPts val="400"/>
              </a:spcAft>
            </a:pPr>
            <a:r>
              <a:rPr sz="1200" b="0">
                <a:solidFill>
                  <a:srgbClr val="64748B"/>
                </a:solidFill>
                <a:latin typeface="Hiragino Sans"/>
                <a:ea typeface="Hiragino Sans"/>
              </a:rPr>
              <a:t>大規模運用・カスタマイズ向け</a:t>
            </a:r>
          </a:p>
        </p:txBody>
      </p:sp>
      <p:sp>
        <p:nvSpPr>
          <p:cNvPr id="14" name="Rectangle 13"/>
          <p:cNvSpPr/>
          <p:nvPr/>
        </p:nvSpPr>
        <p:spPr>
          <a:xfrm>
            <a:off x="6675120" y="3017520"/>
            <a:ext cx="384048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0840" y="3200400"/>
            <a:ext cx="3840480" cy="2194560"/>
          </a:xfrm>
          <a:prstGeom prst="rect">
            <a:avLst/>
          </a:prstGeom>
          <a:noFill/>
        </p:spPr>
        <p:txBody>
          <a:bodyPr wrap="square">
            <a:spAutoFit/>
          </a:bodyPr>
          <a:lstStyle/>
          <a:p>
            <a:pPr algn="l">
              <a:spcBef>
                <a:spcPts val="0"/>
              </a:spcBef>
              <a:spcAft>
                <a:spcPts val="400"/>
              </a:spcAft>
            </a:pPr>
            <a:r>
              <a:rPr sz="1200" b="0">
                <a:solidFill>
                  <a:srgbClr val="1E293B"/>
                </a:solidFill>
                <a:latin typeface="Hiragino Sans"/>
                <a:ea typeface="Hiragino Sans"/>
              </a:rPr>
              <a:t>・ 親記事 月50記事</a:t>
            </a:r>
          </a:p>
          <a:p>
            <a:pPr algn="l">
              <a:spcBef>
                <a:spcPts val="0"/>
              </a:spcBef>
              <a:spcAft>
                <a:spcPts val="400"/>
              </a:spcAft>
            </a:pPr>
            <a:r>
              <a:rPr sz="1200" b="0">
                <a:solidFill>
                  <a:srgbClr val="1E293B"/>
                </a:solidFill>
                <a:latin typeface="Hiragino Sans"/>
                <a:ea typeface="Hiragino Sans"/>
              </a:rPr>
              <a:t>・ 子記事 月750記事</a:t>
            </a:r>
          </a:p>
          <a:p>
            <a:pPr algn="l">
              <a:spcBef>
                <a:spcPts val="0"/>
              </a:spcBef>
              <a:spcAft>
                <a:spcPts val="400"/>
              </a:spcAft>
            </a:pPr>
            <a:r>
              <a:rPr sz="1200" b="0">
                <a:solidFill>
                  <a:srgbClr val="1E293B"/>
                </a:solidFill>
                <a:latin typeface="Hiragino Sans"/>
                <a:ea typeface="Hiragino Sans"/>
              </a:rPr>
              <a:t>・ AIタイトル提案 100回</a:t>
            </a:r>
          </a:p>
          <a:p>
            <a:pPr algn="l">
              <a:spcBef>
                <a:spcPts val="0"/>
              </a:spcBef>
              <a:spcAft>
                <a:spcPts val="400"/>
              </a:spcAft>
            </a:pPr>
            <a:r>
              <a:rPr sz="1200" b="0">
                <a:solidFill>
                  <a:srgbClr val="1E293B"/>
                </a:solidFill>
                <a:latin typeface="Hiragino Sans"/>
                <a:ea typeface="Hiragino Sans"/>
              </a:rPr>
              <a:t>・ 画像生成 1000回</a:t>
            </a:r>
          </a:p>
          <a:p>
            <a:pPr algn="l">
              <a:spcBef>
                <a:spcPts val="0"/>
              </a:spcBef>
              <a:spcAft>
                <a:spcPts val="400"/>
              </a:spcAft>
            </a:pPr>
            <a:r>
              <a:rPr sz="1200" b="0">
                <a:solidFill>
                  <a:srgbClr val="1E293B"/>
                </a:solidFill>
                <a:latin typeface="Hiragino Sans"/>
                <a:ea typeface="Hiragino Sans"/>
              </a:rPr>
              <a:t>・ ジャンル 20個まで</a:t>
            </a:r>
          </a:p>
          <a:p>
            <a:pPr algn="l">
              <a:spcBef>
                <a:spcPts val="0"/>
              </a:spcBef>
              <a:spcAft>
                <a:spcPts val="400"/>
              </a:spcAft>
            </a:pPr>
            <a:r>
              <a:rPr sz="1200" b="0">
                <a:solidFill>
                  <a:srgbClr val="1E293B"/>
                </a:solidFill>
                <a:latin typeface="Hiragino Sans"/>
                <a:ea typeface="Hiragino Sans"/>
              </a:rPr>
              <a:t>・ 中分類 10件まで</a:t>
            </a:r>
          </a:p>
          <a:p>
            <a:pPr algn="l">
              <a:spcBef>
                <a:spcPts val="0"/>
              </a:spcBef>
              <a:spcAft>
                <a:spcPts val="400"/>
              </a:spcAft>
            </a:pPr>
            <a:r>
              <a:rPr sz="1200" b="0">
                <a:solidFill>
                  <a:srgbClr val="1E293B"/>
                </a:solidFill>
                <a:latin typeface="Hiragino Sans"/>
                <a:ea typeface="Hiragino Sans"/>
              </a:rPr>
              <a:t>・ API利用可</a:t>
            </a:r>
          </a:p>
          <a:p>
            <a:pPr algn="l">
              <a:spcBef>
                <a:spcPts val="0"/>
              </a:spcBef>
              <a:spcAft>
                <a:spcPts val="400"/>
              </a:spcAft>
            </a:pPr>
            <a:r>
              <a:rPr sz="1200" b="0">
                <a:solidFill>
                  <a:srgbClr val="1E293B"/>
                </a:solidFill>
                <a:latin typeface="Hiragino Sans"/>
                <a:ea typeface="Hiragino Sans"/>
              </a:rPr>
              <a:t>・ AI主導生成（自律型エージェント）</a:t>
            </a:r>
          </a:p>
        </p:txBody>
      </p:sp>
      <p:sp>
        <p:nvSpPr>
          <p:cNvPr id="16" name="Rounded Rectangle 15"/>
          <p:cNvSpPr/>
          <p:nvPr/>
        </p:nvSpPr>
        <p:spPr>
          <a:xfrm>
            <a:off x="6858000" y="5623560"/>
            <a:ext cx="3474720" cy="384048"/>
          </a:xfrm>
          <a:prstGeom prst="roundRect">
            <a:avLst>
              <a:gd name="adj" fmla="val 50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Hiragino Sans"/>
                <a:ea typeface="Hiragino Sans"/>
              </a:rPr>
              <a:t>問い合わせる →</a:t>
            </a:r>
          </a:p>
        </p:txBody>
      </p:sp>
      <p:pic>
        <p:nvPicPr>
          <p:cNvPr id="17" name="Picture 16" descr="grad_bar.png"/>
          <p:cNvPicPr>
            <a:picLocks noChangeAspect="1"/>
          </p:cNvPicPr>
          <p:nvPr/>
        </p:nvPicPr>
        <p:blipFill>
          <a:blip r:embed="rId3"/>
          <a:stretch>
            <a:fillRect/>
          </a:stretch>
        </p:blipFill>
        <p:spPr>
          <a:xfrm>
            <a:off x="0" y="0"/>
            <a:ext cx="12191695" cy="41148"/>
          </a:xfrm>
          <a:prstGeom prst="rect">
            <a:avLst/>
          </a:prstGeom>
        </p:spPr>
      </p:pic>
      <p:sp>
        <p:nvSpPr>
          <p:cNvPr id="18" name="TextBox 17"/>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19" name="TextBox 18"/>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USER REVIEW</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多くのメディア運営者に選ばれ、成果を実感いただいています</a:t>
            </a:r>
          </a:p>
        </p:txBody>
      </p:sp>
      <p:sp>
        <p:nvSpPr>
          <p:cNvPr id="5" name="Rounded Rectangle 4"/>
          <p:cNvSpPr/>
          <p:nvPr/>
        </p:nvSpPr>
        <p:spPr>
          <a:xfrm>
            <a:off x="457200" y="1463040"/>
            <a:ext cx="5623560" cy="21488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2286000" cy="292608"/>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インハウスSEO</a:t>
            </a:r>
          </a:p>
        </p:txBody>
      </p:sp>
      <p:sp>
        <p:nvSpPr>
          <p:cNvPr id="7" name="TextBox 6"/>
          <p:cNvSpPr txBox="1"/>
          <p:nvPr/>
        </p:nvSpPr>
        <p:spPr>
          <a:xfrm>
            <a:off x="731520" y="2103120"/>
            <a:ext cx="5074920" cy="822960"/>
          </a:xfrm>
          <a:prstGeom prst="rect">
            <a:avLst/>
          </a:prstGeom>
          <a:noFill/>
        </p:spPr>
        <p:txBody>
          <a:bodyPr wrap="square">
            <a:spAutoFit/>
          </a:bodyPr>
          <a:lstStyle/>
          <a:p>
            <a:pPr algn="l">
              <a:spcBef>
                <a:spcPts val="0"/>
              </a:spcBef>
              <a:spcAft>
                <a:spcPts val="400"/>
              </a:spcAft>
            </a:pPr>
            <a:r>
              <a:rPr sz="1100" b="0">
                <a:solidFill>
                  <a:srgbClr val="64748B"/>
                </a:solidFill>
                <a:latin typeface="Hiragino Sans"/>
                <a:ea typeface="Hiragino Sans"/>
              </a:rPr>
              <a:t>事業会社 マーケティング担当者</a:t>
            </a:r>
          </a:p>
          <a:p>
            <a:pPr algn="l">
              <a:spcBef>
                <a:spcPts val="0"/>
              </a:spcBef>
              <a:spcAft>
                <a:spcPts val="400"/>
              </a:spcAft>
            </a:pPr>
            <a:r>
              <a:rPr sz="1300" b="1">
                <a:solidFill>
                  <a:srgbClr val="0F172A"/>
                </a:solidFill>
                <a:latin typeface="Hiragino Sans"/>
                <a:ea typeface="Hiragino Sans"/>
              </a:rPr>
              <a:t>「インハウスでの記事作成時間が半分以下になりました！」</a:t>
            </a:r>
          </a:p>
        </p:txBody>
      </p:sp>
      <p:sp>
        <p:nvSpPr>
          <p:cNvPr id="8" name="Rounded Rectangle 7"/>
          <p:cNvSpPr/>
          <p:nvPr/>
        </p:nvSpPr>
        <p:spPr>
          <a:xfrm>
            <a:off x="731520" y="3063240"/>
            <a:ext cx="2377440" cy="320040"/>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59669"/>
                </a:solidFill>
                <a:latin typeface="Hiragino Sans"/>
                <a:ea typeface="Hiragino Sans"/>
              </a:rPr>
              <a:t>作成工数 -60%</a:t>
            </a:r>
          </a:p>
        </p:txBody>
      </p:sp>
      <p:sp>
        <p:nvSpPr>
          <p:cNvPr id="9" name="Rounded Rectangle 8"/>
          <p:cNvSpPr/>
          <p:nvPr/>
        </p:nvSpPr>
        <p:spPr>
          <a:xfrm>
            <a:off x="3291840" y="3063240"/>
            <a:ext cx="2377440" cy="320040"/>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59669"/>
                </a:solidFill>
                <a:latin typeface="Hiragino Sans"/>
                <a:ea typeface="Hiragino Sans"/>
              </a:rPr>
              <a:t>自然検索流入 +210%</a:t>
            </a:r>
          </a:p>
        </p:txBody>
      </p:sp>
      <p:sp>
        <p:nvSpPr>
          <p:cNvPr id="10" name="Rounded Rectangle 9"/>
          <p:cNvSpPr/>
          <p:nvPr/>
        </p:nvSpPr>
        <p:spPr>
          <a:xfrm>
            <a:off x="6309360" y="1463040"/>
            <a:ext cx="5623560" cy="21488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0" y="1691640"/>
            <a:ext cx="2286000" cy="292608"/>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編集プロダクション</a:t>
            </a:r>
          </a:p>
        </p:txBody>
      </p:sp>
      <p:sp>
        <p:nvSpPr>
          <p:cNvPr id="12" name="TextBox 11"/>
          <p:cNvSpPr txBox="1"/>
          <p:nvPr/>
        </p:nvSpPr>
        <p:spPr>
          <a:xfrm>
            <a:off x="6583680" y="2103120"/>
            <a:ext cx="5074920" cy="822960"/>
          </a:xfrm>
          <a:prstGeom prst="rect">
            <a:avLst/>
          </a:prstGeom>
          <a:noFill/>
        </p:spPr>
        <p:txBody>
          <a:bodyPr wrap="square">
            <a:spAutoFit/>
          </a:bodyPr>
          <a:lstStyle/>
          <a:p>
            <a:pPr algn="l">
              <a:spcBef>
                <a:spcPts val="0"/>
              </a:spcBef>
              <a:spcAft>
                <a:spcPts val="400"/>
              </a:spcAft>
            </a:pPr>
            <a:r>
              <a:rPr sz="1100" b="0">
                <a:solidFill>
                  <a:srgbClr val="64748B"/>
                </a:solidFill>
                <a:latin typeface="Hiragino Sans"/>
                <a:ea typeface="Hiragino Sans"/>
              </a:rPr>
              <a:t>受託制作 ディレクター</a:t>
            </a:r>
          </a:p>
          <a:p>
            <a:pPr algn="l">
              <a:spcBef>
                <a:spcPts val="0"/>
              </a:spcBef>
              <a:spcAft>
                <a:spcPts val="400"/>
              </a:spcAft>
            </a:pPr>
            <a:r>
              <a:rPr sz="1300" b="1">
                <a:solidFill>
                  <a:srgbClr val="0F172A"/>
                </a:solidFill>
                <a:latin typeface="Hiragino Sans"/>
                <a:ea typeface="Hiragino Sans"/>
              </a:rPr>
              <a:t>「外注ライターの品質管理とリライトが極めてスムーズに。」</a:t>
            </a:r>
          </a:p>
        </p:txBody>
      </p:sp>
      <p:sp>
        <p:nvSpPr>
          <p:cNvPr id="13" name="Rounded Rectangle 12"/>
          <p:cNvSpPr/>
          <p:nvPr/>
        </p:nvSpPr>
        <p:spPr>
          <a:xfrm>
            <a:off x="6583680" y="3063240"/>
            <a:ext cx="2377440" cy="320040"/>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59669"/>
                </a:solidFill>
                <a:latin typeface="Hiragino Sans"/>
                <a:ea typeface="Hiragino Sans"/>
              </a:rPr>
              <a:t>編集・校正時間 -45%</a:t>
            </a:r>
          </a:p>
        </p:txBody>
      </p:sp>
      <p:sp>
        <p:nvSpPr>
          <p:cNvPr id="14" name="Rounded Rectangle 13"/>
          <p:cNvSpPr/>
          <p:nvPr/>
        </p:nvSpPr>
        <p:spPr>
          <a:xfrm>
            <a:off x="9144000" y="3063240"/>
            <a:ext cx="2377440" cy="320040"/>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59669"/>
                </a:solidFill>
                <a:latin typeface="Hiragino Sans"/>
                <a:ea typeface="Hiragino Sans"/>
              </a:rPr>
              <a:t>月間納品本数 +180%</a:t>
            </a:r>
          </a:p>
        </p:txBody>
      </p:sp>
      <p:sp>
        <p:nvSpPr>
          <p:cNvPr id="15" name="Rounded Rectangle 14"/>
          <p:cNvSpPr/>
          <p:nvPr/>
        </p:nvSpPr>
        <p:spPr>
          <a:xfrm>
            <a:off x="457200" y="3794760"/>
            <a:ext cx="5623560" cy="21488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4023360"/>
            <a:ext cx="2286000" cy="292608"/>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B2Bマーケティング</a:t>
            </a:r>
          </a:p>
        </p:txBody>
      </p:sp>
      <p:sp>
        <p:nvSpPr>
          <p:cNvPr id="17" name="TextBox 16"/>
          <p:cNvSpPr txBox="1"/>
          <p:nvPr/>
        </p:nvSpPr>
        <p:spPr>
          <a:xfrm>
            <a:off x="731520" y="4434840"/>
            <a:ext cx="5074920" cy="822960"/>
          </a:xfrm>
          <a:prstGeom prst="rect">
            <a:avLst/>
          </a:prstGeom>
          <a:noFill/>
        </p:spPr>
        <p:txBody>
          <a:bodyPr wrap="square">
            <a:spAutoFit/>
          </a:bodyPr>
          <a:lstStyle/>
          <a:p>
            <a:pPr algn="l">
              <a:spcBef>
                <a:spcPts val="0"/>
              </a:spcBef>
              <a:spcAft>
                <a:spcPts val="400"/>
              </a:spcAft>
            </a:pPr>
            <a:r>
              <a:rPr sz="1100" b="0">
                <a:solidFill>
                  <a:srgbClr val="64748B"/>
                </a:solidFill>
                <a:latin typeface="Hiragino Sans"/>
                <a:ea typeface="Hiragino Sans"/>
              </a:rPr>
              <a:t>オウンドメディア運営責任者</a:t>
            </a:r>
          </a:p>
          <a:p>
            <a:pPr algn="l">
              <a:spcBef>
                <a:spcPts val="0"/>
              </a:spcBef>
              <a:spcAft>
                <a:spcPts val="400"/>
              </a:spcAft>
            </a:pPr>
            <a:r>
              <a:rPr sz="1300" b="1">
                <a:solidFill>
                  <a:srgbClr val="0F172A"/>
                </a:solidFill>
                <a:latin typeface="Hiragino Sans"/>
                <a:ea typeface="Hiragino Sans"/>
              </a:rPr>
              <a:t>「狙った重点キーワードで上位獲得。CV増加に直結！」</a:t>
            </a:r>
          </a:p>
        </p:txBody>
      </p:sp>
      <p:sp>
        <p:nvSpPr>
          <p:cNvPr id="18" name="Rounded Rectangle 17"/>
          <p:cNvSpPr/>
          <p:nvPr/>
        </p:nvSpPr>
        <p:spPr>
          <a:xfrm>
            <a:off x="731520" y="5394960"/>
            <a:ext cx="2377440" cy="320040"/>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59669"/>
                </a:solidFill>
                <a:latin typeface="Hiragino Sans"/>
                <a:ea typeface="Hiragino Sans"/>
              </a:rPr>
              <a:t>獲得リード数 +250%</a:t>
            </a:r>
          </a:p>
        </p:txBody>
      </p:sp>
      <p:sp>
        <p:nvSpPr>
          <p:cNvPr id="19" name="Rounded Rectangle 18"/>
          <p:cNvSpPr/>
          <p:nvPr/>
        </p:nvSpPr>
        <p:spPr>
          <a:xfrm>
            <a:off x="3291840" y="5394960"/>
            <a:ext cx="2377440" cy="320040"/>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59669"/>
                </a:solidFill>
                <a:latin typeface="Hiragino Sans"/>
                <a:ea typeface="Hiragino Sans"/>
              </a:rPr>
              <a:t>上位表示KW数 +145%</a:t>
            </a:r>
          </a:p>
        </p:txBody>
      </p:sp>
      <p:sp>
        <p:nvSpPr>
          <p:cNvPr id="20" name="Rounded Rectangle 19"/>
          <p:cNvSpPr/>
          <p:nvPr/>
        </p:nvSpPr>
        <p:spPr>
          <a:xfrm>
            <a:off x="6309360" y="3794760"/>
            <a:ext cx="5623560" cy="21488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0" y="4023360"/>
            <a:ext cx="2286000" cy="292608"/>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SaaS運営企業</a:t>
            </a:r>
          </a:p>
        </p:txBody>
      </p:sp>
      <p:sp>
        <p:nvSpPr>
          <p:cNvPr id="22" name="TextBox 21"/>
          <p:cNvSpPr txBox="1"/>
          <p:nvPr/>
        </p:nvSpPr>
        <p:spPr>
          <a:xfrm>
            <a:off x="6583680" y="4434840"/>
            <a:ext cx="5074920" cy="822960"/>
          </a:xfrm>
          <a:prstGeom prst="rect">
            <a:avLst/>
          </a:prstGeom>
          <a:noFill/>
        </p:spPr>
        <p:txBody>
          <a:bodyPr wrap="square">
            <a:spAutoFit/>
          </a:bodyPr>
          <a:lstStyle/>
          <a:p>
            <a:pPr algn="l">
              <a:spcBef>
                <a:spcPts val="0"/>
              </a:spcBef>
              <a:spcAft>
                <a:spcPts val="400"/>
              </a:spcAft>
            </a:pPr>
            <a:r>
              <a:rPr sz="1100" b="0">
                <a:solidFill>
                  <a:srgbClr val="64748B"/>
                </a:solidFill>
                <a:latin typeface="Hiragino Sans"/>
                <a:ea typeface="Hiragino Sans"/>
              </a:rPr>
              <a:t>コンテンツマーケ責任者（CMO）</a:t>
            </a:r>
          </a:p>
          <a:p>
            <a:pPr algn="l">
              <a:spcBef>
                <a:spcPts val="0"/>
              </a:spcBef>
              <a:spcAft>
                <a:spcPts val="400"/>
              </a:spcAft>
            </a:pPr>
            <a:r>
              <a:rPr sz="1300" b="1">
                <a:solidFill>
                  <a:srgbClr val="0F172A"/>
                </a:solidFill>
                <a:latin typeface="Hiragino Sans"/>
                <a:ea typeface="Hiragino Sans"/>
              </a:rPr>
              <a:t>「外部の執筆外注コストを大幅に削減できました！」</a:t>
            </a:r>
          </a:p>
        </p:txBody>
      </p:sp>
      <p:sp>
        <p:nvSpPr>
          <p:cNvPr id="23" name="Rounded Rectangle 22"/>
          <p:cNvSpPr/>
          <p:nvPr/>
        </p:nvSpPr>
        <p:spPr>
          <a:xfrm>
            <a:off x="6583680" y="5394960"/>
            <a:ext cx="2377440" cy="320040"/>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59669"/>
                </a:solidFill>
                <a:latin typeface="Hiragino Sans"/>
                <a:ea typeface="Hiragino Sans"/>
              </a:rPr>
              <a:t>外注コスト -50%</a:t>
            </a:r>
          </a:p>
        </p:txBody>
      </p:sp>
      <p:sp>
        <p:nvSpPr>
          <p:cNvPr id="24" name="Rounded Rectangle 23"/>
          <p:cNvSpPr/>
          <p:nvPr/>
        </p:nvSpPr>
        <p:spPr>
          <a:xfrm>
            <a:off x="9144000" y="5394960"/>
            <a:ext cx="2377440" cy="320040"/>
          </a:xfrm>
          <a:prstGeom prst="roundRect">
            <a:avLst>
              <a:gd name="adj" fmla="val 50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59669"/>
                </a:solidFill>
                <a:latin typeface="Hiragino Sans"/>
                <a:ea typeface="Hiragino Sans"/>
              </a:rPr>
              <a:t>公開記事本数 +160%</a:t>
            </a:r>
          </a:p>
        </p:txBody>
      </p:sp>
      <p:pic>
        <p:nvPicPr>
          <p:cNvPr id="25" name="Picture 24" descr="grad_bar.png"/>
          <p:cNvPicPr>
            <a:picLocks noChangeAspect="1"/>
          </p:cNvPicPr>
          <p:nvPr/>
        </p:nvPicPr>
        <p:blipFill>
          <a:blip r:embed="rId2"/>
          <a:stretch>
            <a:fillRect/>
          </a:stretch>
        </p:blipFill>
        <p:spPr>
          <a:xfrm>
            <a:off x="0" y="0"/>
            <a:ext cx="12191695" cy="41148"/>
          </a:xfrm>
          <a:prstGeom prst="rect">
            <a:avLst/>
          </a:prstGeom>
        </p:spPr>
      </p:pic>
      <p:sp>
        <p:nvSpPr>
          <p:cNvPr id="26" name="TextBox 25"/>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27" name="TextBox 26"/>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TRIAL</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10日間の無料トライアルを今すぐ体験</a:t>
            </a:r>
          </a:p>
        </p:txBody>
      </p:sp>
      <p:sp>
        <p:nvSpPr>
          <p:cNvPr id="5" name="TextBox 4"/>
          <p:cNvSpPr txBox="1"/>
          <p:nvPr/>
        </p:nvSpPr>
        <p:spPr>
          <a:xfrm>
            <a:off x="594360" y="1216152"/>
            <a:ext cx="10972800" cy="36576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クレジットカードの登録不要。すべての機能を制限なくお試しいただけます。</a:t>
            </a:r>
          </a:p>
        </p:txBody>
      </p:sp>
      <p:sp>
        <p:nvSpPr>
          <p:cNvPr id="6" name="Rounded Rectangle 5"/>
          <p:cNvSpPr/>
          <p:nvPr/>
        </p:nvSpPr>
        <p:spPr>
          <a:xfrm>
            <a:off x="502920" y="1691640"/>
            <a:ext cx="3657600" cy="265176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d_v.png"/>
          <p:cNvPicPr>
            <a:picLocks noChangeAspect="1"/>
          </p:cNvPicPr>
          <p:nvPr/>
        </p:nvPicPr>
        <p:blipFill>
          <a:blip r:embed="rId2"/>
          <a:stretch>
            <a:fillRect/>
          </a:stretch>
        </p:blipFill>
        <p:spPr>
          <a:xfrm>
            <a:off x="502920" y="1764792"/>
            <a:ext cx="54864" cy="2505456"/>
          </a:xfrm>
          <a:prstGeom prst="rect">
            <a:avLst/>
          </a:prstGeom>
        </p:spPr>
      </p:pic>
      <p:sp>
        <p:nvSpPr>
          <p:cNvPr id="8" name="TextBox 7"/>
          <p:cNvSpPr txBox="1"/>
          <p:nvPr/>
        </p:nvSpPr>
        <p:spPr>
          <a:xfrm>
            <a:off x="777240" y="1965960"/>
            <a:ext cx="3108960" cy="2103120"/>
          </a:xfrm>
          <a:prstGeom prst="rect">
            <a:avLst/>
          </a:prstGeom>
          <a:noFill/>
        </p:spPr>
        <p:txBody>
          <a:bodyPr wrap="square">
            <a:spAutoFit/>
          </a:bodyPr>
          <a:lstStyle/>
          <a:p>
            <a:pPr algn="ctr">
              <a:spcBef>
                <a:spcPts val="0"/>
              </a:spcBef>
              <a:spcAft>
                <a:spcPts val="400"/>
              </a:spcAft>
            </a:pPr>
            <a:r>
              <a:rPr sz="1400" b="1">
                <a:solidFill>
                  <a:srgbClr val="3B82F6"/>
                </a:solidFill>
                <a:latin typeface="Arial"/>
                <a:ea typeface="Arial"/>
              </a:rPr>
              <a:t>01</a:t>
            </a:r>
          </a:p>
          <a:p>
            <a:pPr algn="ctr">
              <a:spcBef>
                <a:spcPts val="0"/>
              </a:spcBef>
              <a:spcAft>
                <a:spcPts val="400"/>
              </a:spcAft>
            </a:pPr>
            <a:r>
              <a:rPr sz="1700" b="1">
                <a:solidFill>
                  <a:srgbClr val="0F172A"/>
                </a:solidFill>
                <a:latin typeface="Hiragino Sans"/>
                <a:ea typeface="Hiragino Sans"/>
              </a:rPr>
              <a:t>まずは無料体験</a:t>
            </a:r>
          </a:p>
          <a:p>
            <a:pPr algn="ctr">
              <a:spcBef>
                <a:spcPts val="0"/>
              </a:spcBef>
              <a:spcAft>
                <a:spcPts val="400"/>
              </a:spcAft>
            </a:pPr>
            <a:r>
              <a:rPr sz="800" b="0">
                <a:solidFill>
                  <a:srgbClr val="0F172A"/>
                </a:solidFill>
                <a:latin typeface="Hiragino Sans"/>
                <a:ea typeface="Hiragino Sans"/>
              </a:rPr>
              <a:t/>
            </a:r>
          </a:p>
          <a:p>
            <a:pPr algn="ctr">
              <a:spcBef>
                <a:spcPts val="0"/>
              </a:spcBef>
              <a:spcAft>
                <a:spcPts val="400"/>
              </a:spcAft>
            </a:pPr>
            <a:r>
              <a:rPr sz="1300" b="0">
                <a:solidFill>
                  <a:srgbClr val="64748B"/>
                </a:solidFill>
                <a:latin typeface="Hiragino Sans"/>
                <a:ea typeface="Hiragino Sans"/>
              </a:rPr>
              <a:t>記事生成・SEO分析・画像生成など主要機能をお試しいただけます</a:t>
            </a:r>
          </a:p>
        </p:txBody>
      </p:sp>
      <p:sp>
        <p:nvSpPr>
          <p:cNvPr id="9" name="Rounded Rectangle 8"/>
          <p:cNvSpPr/>
          <p:nvPr/>
        </p:nvSpPr>
        <p:spPr>
          <a:xfrm>
            <a:off x="4343400" y="1691640"/>
            <a:ext cx="3657600" cy="265176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rad_v.png"/>
          <p:cNvPicPr>
            <a:picLocks noChangeAspect="1"/>
          </p:cNvPicPr>
          <p:nvPr/>
        </p:nvPicPr>
        <p:blipFill>
          <a:blip r:embed="rId2"/>
          <a:stretch>
            <a:fillRect/>
          </a:stretch>
        </p:blipFill>
        <p:spPr>
          <a:xfrm>
            <a:off x="4343400" y="1764792"/>
            <a:ext cx="54864" cy="2505456"/>
          </a:xfrm>
          <a:prstGeom prst="rect">
            <a:avLst/>
          </a:prstGeom>
        </p:spPr>
      </p:pic>
      <p:sp>
        <p:nvSpPr>
          <p:cNvPr id="11" name="TextBox 10"/>
          <p:cNvSpPr txBox="1"/>
          <p:nvPr/>
        </p:nvSpPr>
        <p:spPr>
          <a:xfrm>
            <a:off x="4617720" y="1965960"/>
            <a:ext cx="3108960" cy="2103120"/>
          </a:xfrm>
          <a:prstGeom prst="rect">
            <a:avLst/>
          </a:prstGeom>
          <a:noFill/>
        </p:spPr>
        <p:txBody>
          <a:bodyPr wrap="square">
            <a:spAutoFit/>
          </a:bodyPr>
          <a:lstStyle/>
          <a:p>
            <a:pPr algn="ctr">
              <a:spcBef>
                <a:spcPts val="0"/>
              </a:spcBef>
              <a:spcAft>
                <a:spcPts val="400"/>
              </a:spcAft>
            </a:pPr>
            <a:r>
              <a:rPr sz="1400" b="1">
                <a:solidFill>
                  <a:srgbClr val="3B82F6"/>
                </a:solidFill>
                <a:latin typeface="Arial"/>
                <a:ea typeface="Arial"/>
              </a:rPr>
              <a:t>02</a:t>
            </a:r>
          </a:p>
          <a:p>
            <a:pPr algn="ctr">
              <a:spcBef>
                <a:spcPts val="0"/>
              </a:spcBef>
              <a:spcAft>
                <a:spcPts val="400"/>
              </a:spcAft>
            </a:pPr>
            <a:r>
              <a:rPr sz="1700" b="1">
                <a:solidFill>
                  <a:srgbClr val="0F172A"/>
                </a:solidFill>
                <a:latin typeface="Hiragino Sans"/>
                <a:ea typeface="Hiragino Sans"/>
              </a:rPr>
              <a:t>商用利用OK</a:t>
            </a:r>
          </a:p>
          <a:p>
            <a:pPr algn="ctr">
              <a:spcBef>
                <a:spcPts val="0"/>
              </a:spcBef>
              <a:spcAft>
                <a:spcPts val="400"/>
              </a:spcAft>
            </a:pPr>
            <a:r>
              <a:rPr sz="800" b="0">
                <a:solidFill>
                  <a:srgbClr val="0F172A"/>
                </a:solidFill>
                <a:latin typeface="Hiragino Sans"/>
                <a:ea typeface="Hiragino Sans"/>
              </a:rPr>
              <a:t/>
            </a:r>
          </a:p>
          <a:p>
            <a:pPr algn="ctr">
              <a:spcBef>
                <a:spcPts val="0"/>
              </a:spcBef>
              <a:spcAft>
                <a:spcPts val="400"/>
              </a:spcAft>
            </a:pPr>
            <a:r>
              <a:rPr sz="1300" b="0">
                <a:solidFill>
                  <a:srgbClr val="64748B"/>
                </a:solidFill>
                <a:latin typeface="Hiragino Sans"/>
                <a:ea typeface="Hiragino Sans"/>
              </a:rPr>
              <a:t>トライアル期間でも作成いただいた記事はそのままご利用いただけます</a:t>
            </a:r>
          </a:p>
        </p:txBody>
      </p:sp>
      <p:sp>
        <p:nvSpPr>
          <p:cNvPr id="12" name="Rounded Rectangle 11"/>
          <p:cNvSpPr/>
          <p:nvPr/>
        </p:nvSpPr>
        <p:spPr>
          <a:xfrm>
            <a:off x="8183880" y="1691640"/>
            <a:ext cx="3657600" cy="265176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rad_v.png"/>
          <p:cNvPicPr>
            <a:picLocks noChangeAspect="1"/>
          </p:cNvPicPr>
          <p:nvPr/>
        </p:nvPicPr>
        <p:blipFill>
          <a:blip r:embed="rId2"/>
          <a:stretch>
            <a:fillRect/>
          </a:stretch>
        </p:blipFill>
        <p:spPr>
          <a:xfrm>
            <a:off x="8183880" y="1764792"/>
            <a:ext cx="54864" cy="2505456"/>
          </a:xfrm>
          <a:prstGeom prst="rect">
            <a:avLst/>
          </a:prstGeom>
        </p:spPr>
      </p:pic>
      <p:sp>
        <p:nvSpPr>
          <p:cNvPr id="14" name="TextBox 13"/>
          <p:cNvSpPr txBox="1"/>
          <p:nvPr/>
        </p:nvSpPr>
        <p:spPr>
          <a:xfrm>
            <a:off x="8458200" y="1965960"/>
            <a:ext cx="3108960" cy="2103120"/>
          </a:xfrm>
          <a:prstGeom prst="rect">
            <a:avLst/>
          </a:prstGeom>
          <a:noFill/>
        </p:spPr>
        <p:txBody>
          <a:bodyPr wrap="square">
            <a:spAutoFit/>
          </a:bodyPr>
          <a:lstStyle/>
          <a:p>
            <a:pPr algn="ctr">
              <a:spcBef>
                <a:spcPts val="0"/>
              </a:spcBef>
              <a:spcAft>
                <a:spcPts val="400"/>
              </a:spcAft>
            </a:pPr>
            <a:r>
              <a:rPr sz="1400" b="1">
                <a:solidFill>
                  <a:srgbClr val="3B82F6"/>
                </a:solidFill>
                <a:latin typeface="Arial"/>
                <a:ea typeface="Arial"/>
              </a:rPr>
              <a:t>03</a:t>
            </a:r>
          </a:p>
          <a:p>
            <a:pPr algn="ctr">
              <a:spcBef>
                <a:spcPts val="0"/>
              </a:spcBef>
              <a:spcAft>
                <a:spcPts val="400"/>
              </a:spcAft>
            </a:pPr>
            <a:r>
              <a:rPr sz="1700" b="1">
                <a:solidFill>
                  <a:srgbClr val="0F172A"/>
                </a:solidFill>
                <a:latin typeface="Hiragino Sans"/>
                <a:ea typeface="Hiragino Sans"/>
              </a:rPr>
              <a:t>いつでも解約可能</a:t>
            </a:r>
          </a:p>
          <a:p>
            <a:pPr algn="ctr">
              <a:spcBef>
                <a:spcPts val="0"/>
              </a:spcBef>
              <a:spcAft>
                <a:spcPts val="400"/>
              </a:spcAft>
            </a:pPr>
            <a:r>
              <a:rPr sz="800" b="0">
                <a:solidFill>
                  <a:srgbClr val="0F172A"/>
                </a:solidFill>
                <a:latin typeface="Hiragino Sans"/>
                <a:ea typeface="Hiragino Sans"/>
              </a:rPr>
              <a:t/>
            </a:r>
          </a:p>
          <a:p>
            <a:pPr algn="ctr">
              <a:spcBef>
                <a:spcPts val="0"/>
              </a:spcBef>
              <a:spcAft>
                <a:spcPts val="400"/>
              </a:spcAft>
            </a:pPr>
            <a:r>
              <a:rPr sz="1300" b="0">
                <a:solidFill>
                  <a:srgbClr val="64748B"/>
                </a:solidFill>
                <a:latin typeface="Hiragino Sans"/>
                <a:ea typeface="Hiragino Sans"/>
              </a:rPr>
              <a:t>トライアル期間中に解約すれば料金は一切かかりません</a:t>
            </a:r>
          </a:p>
        </p:txBody>
      </p:sp>
      <p:pic>
        <p:nvPicPr>
          <p:cNvPr id="15" name="Picture 14" descr="btn_wide.png"/>
          <p:cNvPicPr>
            <a:picLocks noChangeAspect="1"/>
          </p:cNvPicPr>
          <p:nvPr/>
        </p:nvPicPr>
        <p:blipFill>
          <a:blip r:embed="rId3"/>
          <a:stretch>
            <a:fillRect/>
          </a:stretch>
        </p:blipFill>
        <p:spPr>
          <a:xfrm>
            <a:off x="3657600" y="4754880"/>
            <a:ext cx="4846320" cy="713232"/>
          </a:xfrm>
          <a:prstGeom prst="rect">
            <a:avLst/>
          </a:prstGeom>
        </p:spPr>
      </p:pic>
      <p:sp>
        <p:nvSpPr>
          <p:cNvPr id="16" name="TextBox 15"/>
          <p:cNvSpPr txBox="1"/>
          <p:nvPr/>
        </p:nvSpPr>
        <p:spPr>
          <a:xfrm>
            <a:off x="3657600" y="4828032"/>
            <a:ext cx="4846320" cy="603504"/>
          </a:xfrm>
          <a:prstGeom prst="rect">
            <a:avLst/>
          </a:prstGeom>
          <a:noFill/>
        </p:spPr>
        <p:txBody>
          <a:bodyPr wrap="none">
            <a:spAutoFit/>
          </a:bodyPr>
          <a:lstStyle/>
          <a:p>
            <a:pPr algn="ctr"/>
            <a:r>
              <a:rPr sz="1500" b="1">
                <a:solidFill>
                  <a:srgbClr val="FFFFFF"/>
                </a:solidFill>
                <a:latin typeface="Hiragino Sans"/>
                <a:ea typeface="Hiragino Sans"/>
              </a:rPr>
              <a:t>無料で10日間試す →</a:t>
            </a:r>
          </a:p>
        </p:txBody>
      </p:sp>
      <p:pic>
        <p:nvPicPr>
          <p:cNvPr id="17" name="Picture 16" descr="grad_bar.png"/>
          <p:cNvPicPr>
            <a:picLocks noChangeAspect="1"/>
          </p:cNvPicPr>
          <p:nvPr/>
        </p:nvPicPr>
        <p:blipFill>
          <a:blip r:embed="rId4"/>
          <a:stretch>
            <a:fillRect/>
          </a:stretch>
        </p:blipFill>
        <p:spPr>
          <a:xfrm>
            <a:off x="0" y="0"/>
            <a:ext cx="12191695" cy="41148"/>
          </a:xfrm>
          <a:prstGeom prst="rect">
            <a:avLst/>
          </a:prstGeom>
        </p:spPr>
      </p:pic>
      <p:sp>
        <p:nvSpPr>
          <p:cNvPr id="18" name="TextBox 17"/>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19" name="TextBox 18"/>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FAQ</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よくある質問</a:t>
            </a:r>
          </a:p>
        </p:txBody>
      </p:sp>
      <p:sp>
        <p:nvSpPr>
          <p:cNvPr id="5" name="Rounded Rectangle 4"/>
          <p:cNvSpPr/>
          <p:nvPr/>
        </p:nvSpPr>
        <p:spPr>
          <a:xfrm>
            <a:off x="502920" y="1417320"/>
            <a:ext cx="11155680" cy="10058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27048"/>
            <a:ext cx="10607040" cy="822960"/>
          </a:xfrm>
          <a:prstGeom prst="rect">
            <a:avLst/>
          </a:prstGeom>
          <a:noFill/>
        </p:spPr>
        <p:txBody>
          <a:bodyPr wrap="square">
            <a:spAutoFit/>
          </a:bodyPr>
          <a:lstStyle/>
          <a:p>
            <a:pPr algn="l">
              <a:spcBef>
                <a:spcPts val="0"/>
              </a:spcBef>
              <a:spcAft>
                <a:spcPts val="400"/>
              </a:spcAft>
            </a:pPr>
            <a:r>
              <a:rPr sz="1300" b="1">
                <a:solidFill>
                  <a:srgbClr val="3B82F6"/>
                </a:solidFill>
                <a:latin typeface="Hiragino Sans"/>
                <a:ea typeface="Hiragino Sans"/>
              </a:rPr>
              <a:t>Q.  無料プランは本当に無料ですか？</a:t>
            </a:r>
          </a:p>
          <a:p>
            <a:pPr algn="l">
              <a:spcBef>
                <a:spcPts val="0"/>
              </a:spcBef>
              <a:spcAft>
                <a:spcPts val="400"/>
              </a:spcAft>
            </a:pPr>
            <a:r>
              <a:rPr sz="1200" b="0">
                <a:solidFill>
                  <a:srgbClr val="1E293B"/>
                </a:solidFill>
                <a:latin typeface="Hiragino Sans"/>
                <a:ea typeface="Hiragino Sans"/>
              </a:rPr>
              <a:t>A.  はい。親記事1記事・子記事3記事まで無料でずっとご利用いただけます。</a:t>
            </a:r>
          </a:p>
        </p:txBody>
      </p:sp>
      <p:sp>
        <p:nvSpPr>
          <p:cNvPr id="7" name="Rounded Rectangle 6"/>
          <p:cNvSpPr/>
          <p:nvPr/>
        </p:nvSpPr>
        <p:spPr>
          <a:xfrm>
            <a:off x="502920" y="2560320"/>
            <a:ext cx="11155680" cy="10058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70048"/>
            <a:ext cx="10607040" cy="822960"/>
          </a:xfrm>
          <a:prstGeom prst="rect">
            <a:avLst/>
          </a:prstGeom>
          <a:noFill/>
        </p:spPr>
        <p:txBody>
          <a:bodyPr wrap="square">
            <a:spAutoFit/>
          </a:bodyPr>
          <a:lstStyle/>
          <a:p>
            <a:pPr algn="l">
              <a:spcBef>
                <a:spcPts val="0"/>
              </a:spcBef>
              <a:spcAft>
                <a:spcPts val="400"/>
              </a:spcAft>
            </a:pPr>
            <a:r>
              <a:rPr sz="1300" b="1">
                <a:solidFill>
                  <a:srgbClr val="3B82F6"/>
                </a:solidFill>
                <a:latin typeface="Hiragino Sans"/>
                <a:ea typeface="Hiragino Sans"/>
              </a:rPr>
              <a:t>Q.  SEOスコアはどのように計測されますか？</a:t>
            </a:r>
          </a:p>
          <a:p>
            <a:pPr algn="l">
              <a:spcBef>
                <a:spcPts val="0"/>
              </a:spcBef>
              <a:spcAft>
                <a:spcPts val="400"/>
              </a:spcAft>
            </a:pPr>
            <a:r>
              <a:rPr sz="1200" b="0">
                <a:solidFill>
                  <a:srgbClr val="1E293B"/>
                </a:solidFill>
                <a:latin typeface="Hiragino Sans"/>
                <a:ea typeface="Hiragino Sans"/>
              </a:rPr>
              <a:t>A.  Googleの上位表示アルゴリズムの傾向をAIが独自に多角分析し、見出し構成やキーワード比率などから100点満点で客観的に自動査定します。</a:t>
            </a:r>
          </a:p>
        </p:txBody>
      </p:sp>
      <p:sp>
        <p:nvSpPr>
          <p:cNvPr id="9" name="Rounded Rectangle 8"/>
          <p:cNvSpPr/>
          <p:nvPr/>
        </p:nvSpPr>
        <p:spPr>
          <a:xfrm>
            <a:off x="502920" y="3703320"/>
            <a:ext cx="11155680" cy="10058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813048"/>
            <a:ext cx="10607040" cy="822960"/>
          </a:xfrm>
          <a:prstGeom prst="rect">
            <a:avLst/>
          </a:prstGeom>
          <a:noFill/>
        </p:spPr>
        <p:txBody>
          <a:bodyPr wrap="square">
            <a:spAutoFit/>
          </a:bodyPr>
          <a:lstStyle/>
          <a:p>
            <a:pPr algn="l">
              <a:spcBef>
                <a:spcPts val="0"/>
              </a:spcBef>
              <a:spcAft>
                <a:spcPts val="400"/>
              </a:spcAft>
            </a:pPr>
            <a:r>
              <a:rPr sz="1300" b="1">
                <a:solidFill>
                  <a:srgbClr val="3B82F6"/>
                </a:solidFill>
                <a:latin typeface="Hiragino Sans"/>
                <a:ea typeface="Hiragino Sans"/>
              </a:rPr>
              <a:t>Q.  記事生成中にブラウザを閉じても大丈夫ですか？</a:t>
            </a:r>
          </a:p>
          <a:p>
            <a:pPr algn="l">
              <a:spcBef>
                <a:spcPts val="0"/>
              </a:spcBef>
              <a:spcAft>
                <a:spcPts val="400"/>
              </a:spcAft>
            </a:pPr>
            <a:r>
              <a:rPr sz="1200" b="0">
                <a:solidFill>
                  <a:srgbClr val="1E293B"/>
                </a:solidFill>
                <a:latin typeface="Hiragino Sans"/>
                <a:ea typeface="Hiragino Sans"/>
              </a:rPr>
              <a:t>A.  はい、完全に問題ありません。バックグラウンドのサーバーサイドですべて自動進行・生成されるため、画面を閉じた状態でも処理は継続されます。</a:t>
            </a:r>
          </a:p>
        </p:txBody>
      </p:sp>
      <p:sp>
        <p:nvSpPr>
          <p:cNvPr id="11" name="Rounded Rectangle 10"/>
          <p:cNvSpPr/>
          <p:nvPr/>
        </p:nvSpPr>
        <p:spPr>
          <a:xfrm>
            <a:off x="502920" y="4846320"/>
            <a:ext cx="11155680" cy="10058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956048"/>
            <a:ext cx="10607040" cy="822960"/>
          </a:xfrm>
          <a:prstGeom prst="rect">
            <a:avLst/>
          </a:prstGeom>
          <a:noFill/>
        </p:spPr>
        <p:txBody>
          <a:bodyPr wrap="square">
            <a:spAutoFit/>
          </a:bodyPr>
          <a:lstStyle/>
          <a:p>
            <a:pPr algn="l">
              <a:spcBef>
                <a:spcPts val="0"/>
              </a:spcBef>
              <a:spcAft>
                <a:spcPts val="400"/>
              </a:spcAft>
            </a:pPr>
            <a:r>
              <a:rPr sz="1300" b="1">
                <a:solidFill>
                  <a:srgbClr val="3B82F6"/>
                </a:solidFill>
                <a:latin typeface="Hiragino Sans"/>
                <a:ea typeface="Hiragino Sans"/>
              </a:rPr>
              <a:t>Q.  他のツールやWordPressとの連携はできますか？</a:t>
            </a:r>
          </a:p>
          <a:p>
            <a:pPr algn="l">
              <a:spcBef>
                <a:spcPts val="0"/>
              </a:spcBef>
              <a:spcAft>
                <a:spcPts val="400"/>
              </a:spcAft>
            </a:pPr>
            <a:r>
              <a:rPr sz="1200" b="0">
                <a:solidFill>
                  <a:srgbClr val="1E293B"/>
                </a:solidFill>
                <a:latin typeface="Hiragino Sans"/>
                <a:ea typeface="Hiragino Sans"/>
              </a:rPr>
              <a:t>A.  はい、API連携やCMS向けのエクスポート機能を備えており、生成した最適記事をスムーズに構築サイトへ反映させることができます。</a:t>
            </a:r>
          </a:p>
        </p:txBody>
      </p:sp>
      <p:pic>
        <p:nvPicPr>
          <p:cNvPr id="13" name="Picture 12" descr="grad_bar.png"/>
          <p:cNvPicPr>
            <a:picLocks noChangeAspect="1"/>
          </p:cNvPicPr>
          <p:nvPr/>
        </p:nvPicPr>
        <p:blipFill>
          <a:blip r:embed="rId2"/>
          <a:stretch>
            <a:fillRect/>
          </a:stretch>
        </p:blipFill>
        <p:spPr>
          <a:xfrm>
            <a:off x="0" y="0"/>
            <a:ext cx="12191695" cy="41148"/>
          </a:xfrm>
          <a:prstGeom prst="rect">
            <a:avLst/>
          </a:prstGeom>
        </p:spPr>
      </p:pic>
      <p:sp>
        <p:nvSpPr>
          <p:cNvPr id="14" name="TextBox 13"/>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15" name="TextBox 14"/>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320040"/>
            <a:ext cx="2194560" cy="310896"/>
          </a:xfrm>
          <a:prstGeom prst="roundRect">
            <a:avLst>
              <a:gd name="adj" fmla="val 50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3B82F6"/>
                </a:solidFill>
                <a:latin typeface="Hiragino Sans"/>
                <a:ea typeface="Hiragino Sans"/>
              </a:rPr>
              <a:t>ABOUT US</a:t>
            </a:r>
          </a:p>
        </p:txBody>
      </p:sp>
      <p:sp>
        <p:nvSpPr>
          <p:cNvPr id="4" name="TextBox 3"/>
          <p:cNvSpPr txBox="1"/>
          <p:nvPr/>
        </p:nvSpPr>
        <p:spPr>
          <a:xfrm>
            <a:off x="594360" y="704088"/>
            <a:ext cx="10972800" cy="502920"/>
          </a:xfrm>
          <a:prstGeom prst="rect">
            <a:avLst/>
          </a:prstGeom>
          <a:noFill/>
        </p:spPr>
        <p:txBody>
          <a:bodyPr wrap="square">
            <a:spAutoFit/>
          </a:bodyPr>
          <a:lstStyle/>
          <a:p>
            <a:pPr algn="l">
              <a:spcBef>
                <a:spcPts val="0"/>
              </a:spcBef>
              <a:spcAft>
                <a:spcPts val="400"/>
              </a:spcAft>
            </a:pPr>
            <a:r>
              <a:rPr sz="2600" b="1">
                <a:solidFill>
                  <a:srgbClr val="0F172A"/>
                </a:solidFill>
                <a:latin typeface="Hiragino Sans"/>
                <a:ea typeface="Hiragino Sans"/>
              </a:rPr>
              <a:t>会社概要</a:t>
            </a:r>
          </a:p>
        </p:txBody>
      </p:sp>
      <p:sp>
        <p:nvSpPr>
          <p:cNvPr id="5" name="TextBox 4"/>
          <p:cNvSpPr txBox="1"/>
          <p:nvPr/>
        </p:nvSpPr>
        <p:spPr>
          <a:xfrm>
            <a:off x="594360" y="1216152"/>
            <a:ext cx="10972800" cy="36576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AIでメディアの可能性を広げ、ビジネスの成長を支援します。</a:t>
            </a:r>
          </a:p>
        </p:txBody>
      </p:sp>
      <p:sp>
        <p:nvSpPr>
          <p:cNvPr id="6" name="TextBox 5"/>
          <p:cNvSpPr txBox="1"/>
          <p:nvPr/>
        </p:nvSpPr>
        <p:spPr>
          <a:xfrm>
            <a:off x="594360" y="1417320"/>
            <a:ext cx="10972800" cy="502920"/>
          </a:xfrm>
          <a:prstGeom prst="rect">
            <a:avLst/>
          </a:prstGeom>
          <a:noFill/>
        </p:spPr>
        <p:txBody>
          <a:bodyPr wrap="square">
            <a:spAutoFit/>
          </a:bodyPr>
          <a:lstStyle/>
          <a:p>
            <a:pPr algn="l">
              <a:spcBef>
                <a:spcPts val="0"/>
              </a:spcBef>
              <a:spcAft>
                <a:spcPts val="400"/>
              </a:spcAft>
            </a:pPr>
            <a:r>
              <a:rPr sz="2000" b="1">
                <a:solidFill>
                  <a:srgbClr val="4F46E5"/>
                </a:solidFill>
                <a:latin typeface="Hiragino Sans"/>
                <a:ea typeface="Hiragino Sans"/>
              </a:rPr>
              <a:t>AIの力で、情報とビジネスの未来を創る。</a:t>
            </a:r>
          </a:p>
        </p:txBody>
      </p:sp>
      <p:sp>
        <p:nvSpPr>
          <p:cNvPr id="7" name="Rounded Rectangle 6"/>
          <p:cNvSpPr/>
          <p:nvPr/>
        </p:nvSpPr>
        <p:spPr>
          <a:xfrm>
            <a:off x="502920" y="2011680"/>
            <a:ext cx="3657600" cy="105156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48840"/>
            <a:ext cx="3291840" cy="822960"/>
          </a:xfrm>
          <a:prstGeom prst="rect">
            <a:avLst/>
          </a:prstGeom>
          <a:noFill/>
        </p:spPr>
        <p:txBody>
          <a:bodyPr wrap="square">
            <a:spAutoFit/>
          </a:bodyPr>
          <a:lstStyle/>
          <a:p>
            <a:pPr algn="ctr">
              <a:spcBef>
                <a:spcPts val="0"/>
              </a:spcBef>
              <a:spcAft>
                <a:spcPts val="400"/>
              </a:spcAft>
            </a:pPr>
            <a:r>
              <a:rPr sz="2200" b="1">
                <a:solidFill>
                  <a:srgbClr val="3B82F6"/>
                </a:solidFill>
                <a:latin typeface="Hiragino Sans"/>
                <a:ea typeface="Hiragino Sans"/>
              </a:rPr>
              <a:t>2024年</a:t>
            </a:r>
          </a:p>
          <a:p>
            <a:pPr algn="ctr">
              <a:spcBef>
                <a:spcPts val="0"/>
              </a:spcBef>
              <a:spcAft>
                <a:spcPts val="400"/>
              </a:spcAft>
            </a:pPr>
            <a:r>
              <a:rPr sz="1200" b="0">
                <a:solidFill>
                  <a:srgbClr val="64748B"/>
                </a:solidFill>
                <a:latin typeface="Hiragino Sans"/>
                <a:ea typeface="Hiragino Sans"/>
              </a:rPr>
              <a:t>サービス開始</a:t>
            </a:r>
          </a:p>
        </p:txBody>
      </p:sp>
      <p:sp>
        <p:nvSpPr>
          <p:cNvPr id="9" name="Rounded Rectangle 8"/>
          <p:cNvSpPr/>
          <p:nvPr/>
        </p:nvSpPr>
        <p:spPr>
          <a:xfrm>
            <a:off x="4343400" y="2011680"/>
            <a:ext cx="3657600" cy="105156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148840"/>
            <a:ext cx="3291840" cy="822960"/>
          </a:xfrm>
          <a:prstGeom prst="rect">
            <a:avLst/>
          </a:prstGeom>
          <a:noFill/>
        </p:spPr>
        <p:txBody>
          <a:bodyPr wrap="square">
            <a:spAutoFit/>
          </a:bodyPr>
          <a:lstStyle/>
          <a:p>
            <a:pPr algn="ctr">
              <a:spcBef>
                <a:spcPts val="0"/>
              </a:spcBef>
              <a:spcAft>
                <a:spcPts val="400"/>
              </a:spcAft>
            </a:pPr>
            <a:r>
              <a:rPr sz="2200" b="1">
                <a:solidFill>
                  <a:srgbClr val="3B82F6"/>
                </a:solidFill>
                <a:latin typeface="Hiragino Sans"/>
                <a:ea typeface="Hiragino Sans"/>
              </a:rPr>
              <a:t>100+社</a:t>
            </a:r>
          </a:p>
          <a:p>
            <a:pPr algn="ctr">
              <a:spcBef>
                <a:spcPts val="0"/>
              </a:spcBef>
              <a:spcAft>
                <a:spcPts val="400"/>
              </a:spcAft>
            </a:pPr>
            <a:r>
              <a:rPr sz="1200" b="0">
                <a:solidFill>
                  <a:srgbClr val="64748B"/>
                </a:solidFill>
                <a:latin typeface="Hiragino Sans"/>
                <a:ea typeface="Hiragino Sans"/>
              </a:rPr>
              <a:t>導入企業数</a:t>
            </a:r>
          </a:p>
        </p:txBody>
      </p:sp>
      <p:sp>
        <p:nvSpPr>
          <p:cNvPr id="11" name="Rounded Rectangle 10"/>
          <p:cNvSpPr/>
          <p:nvPr/>
        </p:nvSpPr>
        <p:spPr>
          <a:xfrm>
            <a:off x="8183880" y="2011680"/>
            <a:ext cx="3657600" cy="105156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2148840"/>
            <a:ext cx="3291840" cy="822960"/>
          </a:xfrm>
          <a:prstGeom prst="rect">
            <a:avLst/>
          </a:prstGeom>
          <a:noFill/>
        </p:spPr>
        <p:txBody>
          <a:bodyPr wrap="square">
            <a:spAutoFit/>
          </a:bodyPr>
          <a:lstStyle/>
          <a:p>
            <a:pPr algn="ctr">
              <a:spcBef>
                <a:spcPts val="0"/>
              </a:spcBef>
              <a:spcAft>
                <a:spcPts val="400"/>
              </a:spcAft>
            </a:pPr>
            <a:r>
              <a:rPr sz="2200" b="1">
                <a:solidFill>
                  <a:srgbClr val="3B82F6"/>
                </a:solidFill>
                <a:latin typeface="Hiragino Sans"/>
                <a:ea typeface="Hiragino Sans"/>
              </a:rPr>
              <a:t>1万記事+</a:t>
            </a:r>
          </a:p>
          <a:p>
            <a:pPr algn="ctr">
              <a:spcBef>
                <a:spcPts val="0"/>
              </a:spcBef>
              <a:spcAft>
                <a:spcPts val="400"/>
              </a:spcAft>
            </a:pPr>
            <a:r>
              <a:rPr sz="1200" b="0">
                <a:solidFill>
                  <a:srgbClr val="64748B"/>
                </a:solidFill>
                <a:latin typeface="Hiragino Sans"/>
                <a:ea typeface="Hiragino Sans"/>
              </a:rPr>
              <a:t>累計生成記事数</a:t>
            </a:r>
          </a:p>
        </p:txBody>
      </p:sp>
      <p:sp>
        <p:nvSpPr>
          <p:cNvPr id="13" name="Rounded Rectangle 12"/>
          <p:cNvSpPr/>
          <p:nvPr/>
        </p:nvSpPr>
        <p:spPr>
          <a:xfrm>
            <a:off x="502920" y="3291840"/>
            <a:ext cx="5623560" cy="7772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93008"/>
            <a:ext cx="1737360" cy="41148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会社名</a:t>
            </a:r>
          </a:p>
        </p:txBody>
      </p:sp>
      <p:sp>
        <p:nvSpPr>
          <p:cNvPr id="15" name="TextBox 14"/>
          <p:cNvSpPr txBox="1"/>
          <p:nvPr/>
        </p:nvSpPr>
        <p:spPr>
          <a:xfrm>
            <a:off x="2606039" y="3474720"/>
            <a:ext cx="3246120" cy="4572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株式会社J Work</a:t>
            </a:r>
          </a:p>
        </p:txBody>
      </p:sp>
      <p:sp>
        <p:nvSpPr>
          <p:cNvPr id="16" name="Rounded Rectangle 15"/>
          <p:cNvSpPr/>
          <p:nvPr/>
        </p:nvSpPr>
        <p:spPr>
          <a:xfrm>
            <a:off x="6309359" y="3291840"/>
            <a:ext cx="5623560" cy="7772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79" y="3493008"/>
            <a:ext cx="1737360" cy="41148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代表取締役</a:t>
            </a:r>
          </a:p>
        </p:txBody>
      </p:sp>
      <p:sp>
        <p:nvSpPr>
          <p:cNvPr id="18" name="TextBox 17"/>
          <p:cNvSpPr txBox="1"/>
          <p:nvPr/>
        </p:nvSpPr>
        <p:spPr>
          <a:xfrm>
            <a:off x="8412480" y="3474720"/>
            <a:ext cx="3246120" cy="4572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奥山　健太</a:t>
            </a:r>
          </a:p>
        </p:txBody>
      </p:sp>
      <p:sp>
        <p:nvSpPr>
          <p:cNvPr id="19" name="Rounded Rectangle 18"/>
          <p:cNvSpPr/>
          <p:nvPr/>
        </p:nvSpPr>
        <p:spPr>
          <a:xfrm>
            <a:off x="502920" y="4206240"/>
            <a:ext cx="5623560" cy="7772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407407"/>
            <a:ext cx="1737360" cy="41148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設立</a:t>
            </a:r>
          </a:p>
        </p:txBody>
      </p:sp>
      <p:sp>
        <p:nvSpPr>
          <p:cNvPr id="21" name="TextBox 20"/>
          <p:cNvSpPr txBox="1"/>
          <p:nvPr/>
        </p:nvSpPr>
        <p:spPr>
          <a:xfrm>
            <a:off x="2606039" y="4389120"/>
            <a:ext cx="3246120" cy="4572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2023年8月22日</a:t>
            </a:r>
          </a:p>
        </p:txBody>
      </p:sp>
      <p:sp>
        <p:nvSpPr>
          <p:cNvPr id="22" name="Rounded Rectangle 21"/>
          <p:cNvSpPr/>
          <p:nvPr/>
        </p:nvSpPr>
        <p:spPr>
          <a:xfrm>
            <a:off x="6309359" y="4206240"/>
            <a:ext cx="5623560" cy="7772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79" y="4407407"/>
            <a:ext cx="1737360" cy="41148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資本金</a:t>
            </a:r>
          </a:p>
        </p:txBody>
      </p:sp>
      <p:sp>
        <p:nvSpPr>
          <p:cNvPr id="24" name="TextBox 23"/>
          <p:cNvSpPr txBox="1"/>
          <p:nvPr/>
        </p:nvSpPr>
        <p:spPr>
          <a:xfrm>
            <a:off x="8412480" y="4389120"/>
            <a:ext cx="3246120" cy="4572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5,000,000円</a:t>
            </a:r>
          </a:p>
        </p:txBody>
      </p:sp>
      <p:sp>
        <p:nvSpPr>
          <p:cNvPr id="25" name="Rounded Rectangle 24"/>
          <p:cNvSpPr/>
          <p:nvPr/>
        </p:nvSpPr>
        <p:spPr>
          <a:xfrm>
            <a:off x="502920" y="5120640"/>
            <a:ext cx="5623560" cy="7772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321807"/>
            <a:ext cx="1737360" cy="41148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所在地</a:t>
            </a:r>
          </a:p>
        </p:txBody>
      </p:sp>
      <p:sp>
        <p:nvSpPr>
          <p:cNvPr id="27" name="TextBox 26"/>
          <p:cNvSpPr txBox="1"/>
          <p:nvPr/>
        </p:nvSpPr>
        <p:spPr>
          <a:xfrm>
            <a:off x="2606039" y="5303520"/>
            <a:ext cx="3246120" cy="4572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東京都港区浜松町２丁目２番１５号２Ｆ</a:t>
            </a:r>
          </a:p>
        </p:txBody>
      </p:sp>
      <p:sp>
        <p:nvSpPr>
          <p:cNvPr id="28" name="Rounded Rectangle 27"/>
          <p:cNvSpPr/>
          <p:nvPr/>
        </p:nvSpPr>
        <p:spPr>
          <a:xfrm>
            <a:off x="6309359" y="5120640"/>
            <a:ext cx="5623560" cy="777240"/>
          </a:xfrm>
          <a:prstGeom prst="roundRect">
            <a:avLst>
              <a:gd name="adj" fmla="val 6000"/>
            </a:avLst>
          </a:prstGeom>
          <a:solidFill>
            <a:srgbClr val="FFFFFF"/>
          </a:solidFill>
          <a:ln w="12700">
            <a:solidFill>
              <a:srgbClr val="E2E8F0"/>
            </a:solidFill>
          </a:ln>
          <a:effectLst>
            <a:outerShdw blurRad="35000" dist="16000" dir="5400000" algn="ctr" rotWithShape="0">
              <a:srgbClr val="0F172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79" y="5321807"/>
            <a:ext cx="1737360" cy="411480"/>
          </a:xfrm>
          <a:prstGeom prst="rect">
            <a:avLst/>
          </a:prstGeom>
          <a:noFill/>
        </p:spPr>
        <p:txBody>
          <a:bodyPr wrap="square">
            <a:spAutoFit/>
          </a:bodyPr>
          <a:lstStyle/>
          <a:p>
            <a:pPr algn="l">
              <a:spcBef>
                <a:spcPts val="0"/>
              </a:spcBef>
              <a:spcAft>
                <a:spcPts val="400"/>
              </a:spcAft>
            </a:pPr>
            <a:r>
              <a:rPr sz="1200" b="0">
                <a:solidFill>
                  <a:srgbClr val="64748B"/>
                </a:solidFill>
                <a:latin typeface="Hiragino Sans"/>
                <a:ea typeface="Hiragino Sans"/>
              </a:rPr>
              <a:t>事業内容</a:t>
            </a:r>
          </a:p>
        </p:txBody>
      </p:sp>
      <p:sp>
        <p:nvSpPr>
          <p:cNvPr id="30" name="TextBox 29"/>
          <p:cNvSpPr txBox="1"/>
          <p:nvPr/>
        </p:nvSpPr>
        <p:spPr>
          <a:xfrm>
            <a:off x="8412480" y="5303520"/>
            <a:ext cx="3246120" cy="457200"/>
          </a:xfrm>
          <a:prstGeom prst="rect">
            <a:avLst/>
          </a:prstGeom>
          <a:noFill/>
        </p:spPr>
        <p:txBody>
          <a:bodyPr wrap="square">
            <a:spAutoFit/>
          </a:bodyPr>
          <a:lstStyle/>
          <a:p>
            <a:pPr algn="l">
              <a:spcBef>
                <a:spcPts val="0"/>
              </a:spcBef>
              <a:spcAft>
                <a:spcPts val="400"/>
              </a:spcAft>
            </a:pPr>
            <a:r>
              <a:rPr sz="1300" b="1">
                <a:solidFill>
                  <a:srgbClr val="0F172A"/>
                </a:solidFill>
                <a:latin typeface="Hiragino Sans"/>
                <a:ea typeface="Hiragino Sans"/>
              </a:rPr>
              <a:t>AI記事生成SaaS「Drafity」の開発・提供／メディア支援</a:t>
            </a:r>
          </a:p>
        </p:txBody>
      </p:sp>
      <p:pic>
        <p:nvPicPr>
          <p:cNvPr id="31" name="Picture 30" descr="grad_bar.png"/>
          <p:cNvPicPr>
            <a:picLocks noChangeAspect="1"/>
          </p:cNvPicPr>
          <p:nvPr/>
        </p:nvPicPr>
        <p:blipFill>
          <a:blip r:embed="rId2"/>
          <a:stretch>
            <a:fillRect/>
          </a:stretch>
        </p:blipFill>
        <p:spPr>
          <a:xfrm>
            <a:off x="0" y="0"/>
            <a:ext cx="12191695" cy="41148"/>
          </a:xfrm>
          <a:prstGeom prst="rect">
            <a:avLst/>
          </a:prstGeom>
        </p:spPr>
      </p:pic>
      <p:sp>
        <p:nvSpPr>
          <p:cNvPr id="32" name="TextBox 31"/>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33" name="TextBox 32"/>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lob1.png"/>
          <p:cNvPicPr>
            <a:picLocks noChangeAspect="1"/>
          </p:cNvPicPr>
          <p:nvPr/>
        </p:nvPicPr>
        <p:blipFill>
          <a:blip r:embed="rId2"/>
          <a:stretch>
            <a:fillRect/>
          </a:stretch>
        </p:blipFill>
        <p:spPr>
          <a:xfrm>
            <a:off x="3200400" y="731520"/>
            <a:ext cx="5943600" cy="5943600"/>
          </a:xfrm>
          <a:prstGeom prst="rect">
            <a:avLst/>
          </a:prstGeom>
        </p:spPr>
      </p:pic>
      <p:sp>
        <p:nvSpPr>
          <p:cNvPr id="4" name="Rounded Rectangle 3"/>
          <p:cNvSpPr/>
          <p:nvPr/>
        </p:nvSpPr>
        <p:spPr>
          <a:xfrm>
            <a:off x="1645920" y="1463040"/>
            <a:ext cx="8869680" cy="4114800"/>
          </a:xfrm>
          <a:prstGeom prst="roundRect">
            <a:avLst>
              <a:gd name="adj" fmla="val 6000"/>
            </a:avLst>
          </a:prstGeom>
          <a:solidFill>
            <a:srgbClr val="FFFFFF"/>
          </a:solidFill>
          <a:ln w="12700">
            <a:solidFill>
              <a:srgbClr val="E2E8F0"/>
            </a:solidFill>
          </a:ln>
          <a:effectLst>
            <a:outerShdw blurRad="50000" dist="16000" dir="5400000" algn="ctr"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rad_bar.png"/>
          <p:cNvPicPr>
            <a:picLocks noChangeAspect="1"/>
          </p:cNvPicPr>
          <p:nvPr/>
        </p:nvPicPr>
        <p:blipFill>
          <a:blip r:embed="rId3"/>
          <a:stretch>
            <a:fillRect/>
          </a:stretch>
        </p:blipFill>
        <p:spPr>
          <a:xfrm>
            <a:off x="1645920" y="1463040"/>
            <a:ext cx="8869680" cy="54864"/>
          </a:xfrm>
          <a:prstGeom prst="rect">
            <a:avLst/>
          </a:prstGeom>
        </p:spPr>
      </p:pic>
      <p:sp>
        <p:nvSpPr>
          <p:cNvPr id="6" name="TextBox 5"/>
          <p:cNvSpPr txBox="1"/>
          <p:nvPr/>
        </p:nvSpPr>
        <p:spPr>
          <a:xfrm>
            <a:off x="2011680" y="2011680"/>
            <a:ext cx="8138160" cy="365760"/>
          </a:xfrm>
          <a:prstGeom prst="rect">
            <a:avLst/>
          </a:prstGeom>
          <a:noFill/>
        </p:spPr>
        <p:txBody>
          <a:bodyPr wrap="square">
            <a:spAutoFit/>
          </a:bodyPr>
          <a:lstStyle/>
          <a:p>
            <a:pPr algn="ctr">
              <a:spcBef>
                <a:spcPts val="0"/>
              </a:spcBef>
              <a:spcAft>
                <a:spcPts val="400"/>
              </a:spcAft>
            </a:pPr>
            <a:r>
              <a:rPr sz="1400" b="1">
                <a:solidFill>
                  <a:srgbClr val="3B82F6"/>
                </a:solidFill>
                <a:latin typeface="Hiragino Sans"/>
                <a:ea typeface="Hiragino Sans"/>
              </a:rPr>
              <a:t>今なら10日間の無料トライアル</a:t>
            </a:r>
          </a:p>
        </p:txBody>
      </p:sp>
      <p:sp>
        <p:nvSpPr>
          <p:cNvPr id="7" name="TextBox 6"/>
          <p:cNvSpPr txBox="1"/>
          <p:nvPr/>
        </p:nvSpPr>
        <p:spPr>
          <a:xfrm>
            <a:off x="2011680" y="2560320"/>
            <a:ext cx="8138160" cy="1188720"/>
          </a:xfrm>
          <a:prstGeom prst="rect">
            <a:avLst/>
          </a:prstGeom>
          <a:noFill/>
        </p:spPr>
        <p:txBody>
          <a:bodyPr wrap="square">
            <a:spAutoFit/>
          </a:bodyPr>
          <a:lstStyle/>
          <a:p>
            <a:pPr algn="ctr">
              <a:spcBef>
                <a:spcPts val="0"/>
              </a:spcBef>
              <a:spcAft>
                <a:spcPts val="400"/>
              </a:spcAft>
            </a:pPr>
            <a:r>
              <a:rPr sz="2800" b="1">
                <a:solidFill>
                  <a:srgbClr val="0F172A"/>
                </a:solidFill>
                <a:latin typeface="Hiragino Sans"/>
                <a:ea typeface="Hiragino Sans"/>
              </a:rPr>
              <a:t>まずは無料で、</a:t>
            </a:r>
          </a:p>
          <a:p>
            <a:pPr algn="ctr">
              <a:spcBef>
                <a:spcPts val="0"/>
              </a:spcBef>
              <a:spcAft>
                <a:spcPts val="400"/>
              </a:spcAft>
            </a:pPr>
            <a:r>
              <a:rPr sz="2800" b="1">
                <a:solidFill>
                  <a:srgbClr val="4F46E5"/>
                </a:solidFill>
                <a:latin typeface="Hiragino Sans"/>
                <a:ea typeface="Hiragino Sans"/>
              </a:rPr>
              <a:t>AIの力を体験してください</a:t>
            </a:r>
          </a:p>
        </p:txBody>
      </p:sp>
      <p:pic>
        <p:nvPicPr>
          <p:cNvPr id="8" name="Picture 7" descr="btn_wide.png"/>
          <p:cNvPicPr>
            <a:picLocks noChangeAspect="1"/>
          </p:cNvPicPr>
          <p:nvPr/>
        </p:nvPicPr>
        <p:blipFill>
          <a:blip r:embed="rId4"/>
          <a:stretch>
            <a:fillRect/>
          </a:stretch>
        </p:blipFill>
        <p:spPr>
          <a:xfrm>
            <a:off x="3657600" y="4114800"/>
            <a:ext cx="4846320" cy="713232"/>
          </a:xfrm>
          <a:prstGeom prst="rect">
            <a:avLst/>
          </a:prstGeom>
        </p:spPr>
      </p:pic>
      <p:sp>
        <p:nvSpPr>
          <p:cNvPr id="9" name="TextBox 8"/>
          <p:cNvSpPr txBox="1"/>
          <p:nvPr/>
        </p:nvSpPr>
        <p:spPr>
          <a:xfrm>
            <a:off x="3657600" y="4187952"/>
            <a:ext cx="4846320" cy="603504"/>
          </a:xfrm>
          <a:prstGeom prst="rect">
            <a:avLst/>
          </a:prstGeom>
          <a:noFill/>
        </p:spPr>
        <p:txBody>
          <a:bodyPr wrap="none">
            <a:spAutoFit/>
          </a:bodyPr>
          <a:lstStyle/>
          <a:p>
            <a:pPr algn="ctr"/>
            <a:r>
              <a:rPr sz="1500" b="1">
                <a:solidFill>
                  <a:srgbClr val="FFFFFF"/>
                </a:solidFill>
                <a:latin typeface="Hiragino Sans"/>
                <a:ea typeface="Hiragino Sans"/>
              </a:rPr>
              <a:t>無料アカウント作成</a:t>
            </a:r>
          </a:p>
        </p:txBody>
      </p:sp>
      <p:pic>
        <p:nvPicPr>
          <p:cNvPr id="10" name="Picture 9" descr="logo.png"/>
          <p:cNvPicPr>
            <a:picLocks noChangeAspect="1"/>
          </p:cNvPicPr>
          <p:nvPr/>
        </p:nvPicPr>
        <p:blipFill>
          <a:blip r:embed="rId5"/>
          <a:stretch>
            <a:fillRect/>
          </a:stretch>
        </p:blipFill>
        <p:spPr>
          <a:xfrm>
            <a:off x="5715000" y="5074920"/>
            <a:ext cx="947292" cy="365760"/>
          </a:xfrm>
          <a:prstGeom prst="rect">
            <a:avLst/>
          </a:prstGeom>
        </p:spPr>
      </p:pic>
      <p:pic>
        <p:nvPicPr>
          <p:cNvPr id="11" name="Picture 10" descr="grad_bar.png"/>
          <p:cNvPicPr>
            <a:picLocks noChangeAspect="1"/>
          </p:cNvPicPr>
          <p:nvPr/>
        </p:nvPicPr>
        <p:blipFill>
          <a:blip r:embed="rId3"/>
          <a:stretch>
            <a:fillRect/>
          </a:stretch>
        </p:blipFill>
        <p:spPr>
          <a:xfrm>
            <a:off x="0" y="0"/>
            <a:ext cx="12191695" cy="41148"/>
          </a:xfrm>
          <a:prstGeom prst="rect">
            <a:avLst/>
          </a:prstGeom>
        </p:spPr>
      </p:pic>
      <p:sp>
        <p:nvSpPr>
          <p:cNvPr id="12" name="TextBox 11"/>
          <p:cNvSpPr txBox="1"/>
          <p:nvPr/>
        </p:nvSpPr>
        <p:spPr>
          <a:xfrm>
            <a:off x="502920" y="6510528"/>
            <a:ext cx="7315200" cy="228600"/>
          </a:xfrm>
          <a:prstGeom prst="rect">
            <a:avLst/>
          </a:prstGeom>
          <a:noFill/>
        </p:spPr>
        <p:txBody>
          <a:bodyPr wrap="square">
            <a:spAutoFit/>
          </a:bodyPr>
          <a:lstStyle/>
          <a:p>
            <a:pPr algn="l">
              <a:spcBef>
                <a:spcPts val="0"/>
              </a:spcBef>
              <a:spcAft>
                <a:spcPts val="400"/>
              </a:spcAft>
            </a:pPr>
            <a:r>
              <a:rPr sz="900" b="0">
                <a:solidFill>
                  <a:srgbClr val="94A3B8"/>
                </a:solidFill>
                <a:latin typeface="Arial"/>
                <a:ea typeface="Arial"/>
              </a:rPr>
              <a:t>Drafity ｜ drafity.pro</a:t>
            </a:r>
          </a:p>
        </p:txBody>
      </p:sp>
      <p:sp>
        <p:nvSpPr>
          <p:cNvPr id="13" name="TextBox 12"/>
          <p:cNvSpPr txBox="1"/>
          <p:nvPr/>
        </p:nvSpPr>
        <p:spPr>
          <a:xfrm>
            <a:off x="10424160" y="6510528"/>
            <a:ext cx="1280160" cy="228600"/>
          </a:xfrm>
          <a:prstGeom prst="rect">
            <a:avLst/>
          </a:prstGeom>
          <a:noFill/>
        </p:spPr>
        <p:txBody>
          <a:bodyPr wrap="square">
            <a:spAutoFit/>
          </a:bodyPr>
          <a:lstStyle/>
          <a:p>
            <a:pPr algn="r">
              <a:spcBef>
                <a:spcPts val="0"/>
              </a:spcBef>
              <a:spcAft>
                <a:spcPts val="400"/>
              </a:spcAft>
            </a:pPr>
            <a:r>
              <a:rPr sz="900" b="0">
                <a:solidFill>
                  <a:srgbClr val="94A3B8"/>
                </a:solidFill>
                <a:latin typeface="Arial"/>
                <a:ea typeface="Aria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